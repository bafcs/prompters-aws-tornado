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media/image13.svg" ContentType="image/svg"/>
  <Override PartName="/ppt/media/image29.svg" ContentType="image/svg"/>
  <Override PartName="/ppt/media/image25.svg" ContentType="image/svg"/>
  <Override PartName="/ppt/media/image11.svg" ContentType="image/svg"/>
  <Override PartName="/ppt/media/image6.svg" ContentType="image/svg"/>
  <Override PartName="/ppt/media/image17.svg" ContentType="image/svg"/>
  <Override PartName="/ppt/media/image33.svg" ContentType="image/svg"/>
  <Override PartName="/ppt/media/image2.svg" ContentType="image/svg"/>
  <Override PartName="/ppt/media/image39.svg" ContentType="image/svg"/>
  <Override PartName="/ppt/media/image27.svg" ContentType="image/svg"/>
  <Override PartName="/ppt/media/image31.svg" ContentType="image/svg"/>
  <Override PartName="/ppt/media/image15.svg" ContentType="image/svg"/>
  <Override PartName="/ppt/media/image41.svg" ContentType="image/svg"/>
  <Override PartName="/ppt/media/image19.svg" ContentType="image/svg"/>
  <Override PartName="/ppt/media/image37.svg" ContentType="image/svg"/>
  <Override PartName="/ppt/media/image47.svg" ContentType="image/svg"/>
  <Override PartName="/ppt/media/image9.svg" ContentType="image/svg"/>
  <Override PartName="/ppt/media/image35.svg" ContentType="image/svg"/>
  <Override PartName="/ppt/media/image49.svg" ContentType="image/svg"/>
  <Override PartName="/ppt/media/image45.svg" ContentType="image/svg"/>
  <Override PartName="/ppt/media/image4.svg" ContentType="image/svg"/>
  <Override PartName="/ppt/media/image21.svg" ContentType="image/svg"/>
  <Override PartName="/ppt/media/image43.svg" ContentType="image/svg"/>
  <Override PartName="/ppt/media/image23.svg" ContentType="image/sv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microsoft.com/office/2011/relationships/webextensiontaskpanes" Target="ppt/webextensions/taskpanes.xml"/><Relationship Id="rId5"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533520" y="764280"/>
            <a:ext cx="6704640" cy="3771360"/>
          </a:xfrm>
          <a:prstGeom prst="rect">
            <a:avLst/>
          </a:prstGeom>
          <a:noFill/>
          <a:ln w="0">
            <a:noFill/>
          </a:ln>
        </p:spPr>
        <p:txBody>
          <a:bodyPr lIns="0" tIns="0" rIns="0" bIns="0" anchor="ctr">
            <a:noAutofit/>
          </a:bodyPr>
          <a:p>
            <a:r>
              <a:rPr lang="es-CL" sz="1800" b="0" u="none" strike="noStrike">
                <a:solidFill>
                  <a:schemeClr val="dk1"/>
                </a:solidFill>
                <a:effectLst/>
                <a:uFillTx/>
                <a:latin typeface="Calibri"/>
              </a:rPr>
              <a:t>Click to move </a:t>
            </a:r>
            <a:r>
              <a:rPr lang="es-CL" sz="1800" b="0" u="none" strike="noStrike">
                <a:solidFill>
                  <a:schemeClr val="dk1"/>
                </a:solidFill>
                <a:effectLst/>
                <a:uFillTx/>
                <a:latin typeface="Calibri"/>
              </a:rPr>
              <a:t>the slide</a:t>
            </a:r>
            <a:endParaRPr lang="es-CL" sz="1800" b="0" u="none" strike="noStrike">
              <a:solidFill>
                <a:schemeClr val="dk1"/>
              </a:solidFill>
              <a:effectLst/>
              <a:uFillTx/>
              <a:latin typeface="Calibri"/>
            </a:endParaRPr>
          </a:p>
        </p:txBody>
      </p:sp>
      <p:sp>
        <p:nvSpPr>
          <p:cNvPr id="5"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s-CL" sz="2000" b="0" u="none" strike="noStrike">
                <a:solidFill>
                  <a:srgbClr val="000000"/>
                </a:solidFill>
                <a:effectLst/>
                <a:uFillTx/>
                <a:latin typeface="Arial"/>
              </a:rPr>
              <a:t>Click to edit the notes </a:t>
            </a:r>
            <a:r>
              <a:rPr lang="es-CL" sz="2000" b="0" u="none" strike="noStrike">
                <a:solidFill>
                  <a:srgbClr val="000000"/>
                </a:solidFill>
                <a:effectLst/>
                <a:uFillTx/>
                <a:latin typeface="Arial"/>
              </a:rPr>
              <a:t>format</a:t>
            </a:r>
            <a:endParaRPr lang="es-CL" sz="2000" b="0" u="none" strike="noStrike">
              <a:solidFill>
                <a:srgbClr val="000000"/>
              </a:solidFill>
              <a:effectLst/>
              <a:uFillTx/>
              <a:latin typeface="Arial"/>
            </a:endParaRPr>
          </a:p>
        </p:txBody>
      </p:sp>
      <p:sp>
        <p:nvSpPr>
          <p:cNvPr id="6"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s-CL" sz="1400" b="0" u="none" strike="noStrike">
                <a:solidFill>
                  <a:srgbClr val="000000"/>
                </a:solidFill>
                <a:effectLst/>
                <a:uFillTx/>
                <a:latin typeface="Times New Roman"/>
              </a:rPr>
              <a:t> </a:t>
            </a:r>
            <a:endParaRPr lang="es-CL"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s-CL" sz="1400" b="0" u="none" strike="noStrike">
                <a:solidFill>
                  <a:srgbClr val="000000"/>
                </a:solidFill>
                <a:effectLst/>
                <a:uFillTx/>
                <a:latin typeface="Times New Roman"/>
              </a:defRPr>
            </a:lvl1pPr>
          </a:lstStyle>
          <a:p>
            <a:pPr indent="0" algn="r">
              <a:buNone/>
            </a:pPr>
            <a:r>
              <a:rPr lang="es-CL" sz="1400" b="0" u="none" strike="noStrike">
                <a:solidFill>
                  <a:srgbClr val="000000"/>
                </a:solidFill>
                <a:effectLst/>
                <a:uFillTx/>
                <a:latin typeface="Times New Roman"/>
              </a:rPr>
              <a:t> </a:t>
            </a:r>
            <a:endParaRPr lang="es-CL"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s-CL" sz="1400" b="0" u="none" strike="noStrike">
                <a:solidFill>
                  <a:srgbClr val="000000"/>
                </a:solidFill>
                <a:effectLst/>
                <a:uFillTx/>
                <a:latin typeface="Times New Roman"/>
              </a:defRPr>
            </a:lvl1pPr>
          </a:lstStyle>
          <a:p>
            <a:pPr indent="0" algn="l">
              <a:buNone/>
            </a:pPr>
            <a:r>
              <a:rPr lang="es-CL" sz="1400" b="0" u="none" strike="noStrike">
                <a:solidFill>
                  <a:srgbClr val="000000"/>
                </a:solidFill>
                <a:effectLst/>
                <a:uFillTx/>
                <a:latin typeface="Times New Roman"/>
              </a:rPr>
              <a:t> </a:t>
            </a:r>
            <a:endParaRPr lang="es-CL"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s-CL" sz="1400" b="0" u="none" strike="noStrike">
                <a:solidFill>
                  <a:srgbClr val="000000"/>
                </a:solidFill>
                <a:effectLst/>
                <a:uFillTx/>
                <a:latin typeface="Times New Roman"/>
              </a:defRPr>
            </a:lvl1pPr>
          </a:lstStyle>
          <a:p>
            <a:pPr indent="0" algn="r">
              <a:buNone/>
            </a:pPr>
            <a:fld id="{89B83174-A19A-4318-ACCF-C6C9249F6A7B}" type="slidenum">
              <a:rPr lang="es-CL" sz="1400" b="0" u="none" strike="noStrike">
                <a:solidFill>
                  <a:srgbClr val="000000"/>
                </a:solidFill>
                <a:effectLst/>
                <a:uFillTx/>
                <a:latin typeface="Times New Roman"/>
              </a:rPr>
              <a:t>1</a:t>
            </a:fld>
            <a:endParaRPr lang="es-CL"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type="sldImg"/>
          </p:nvPr>
        </p:nvSpPr>
        <p:spPr>
          <a:xfrm>
            <a:off x="0" y="0"/>
            <a:ext cx="0" cy="0"/>
          </a:xfrm>
          <a:prstGeom prst="rect">
            <a:avLst/>
          </a:prstGeom>
          <a:ln w="0">
            <a:noFill/>
          </a:ln>
        </p:spPr>
      </p:sp>
      <p:sp>
        <p:nvSpPr>
          <p:cNvPr id="17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s-CL" sz="2000" b="0" u="none" strike="noStrike">
                <a:solidFill>
                  <a:srgbClr val="000000"/>
                </a:solidFill>
                <a:effectLst/>
                <a:uFillTx/>
                <a:latin typeface="Arial"/>
              </a:rPr>
              <a:t>Repositorio y visor: https://github.com/idia-tt/aws-mesocyclonic. Contacto: ronda@dgf.uchile.cl (página de equipo del CR2, cr2.cl).</a:t>
            </a:r>
            <a:endParaRPr lang="es-CL" sz="2000" b="0" u="none" strike="noStrike">
              <a:solidFill>
                <a:srgbClr val="000000"/>
              </a:solidFill>
              <a:effectLst/>
              <a:uFillTx/>
              <a:latin typeface="Arial"/>
            </a:endParaRPr>
          </a:p>
        </p:txBody>
      </p:sp>
      <p:sp>
        <p:nvSpPr>
          <p:cNvPr id="180" name="PlaceHolder 3"/>
          <p:cNvSpPr>
            <a:spLocks noGrp="1"/>
          </p:cNvSpPr>
          <p:nvPr>
            <p:ph type="sldNum" idx="4"/>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B20C8442-9CCB-4BBF-9AC5-238939B9D706}" type="slidenum">
              <a:rPr lang="en-US" sz="1800" b="0" u="none" strike="noStrike">
                <a:solidFill>
                  <a:schemeClr val="dk1"/>
                </a:solidFill>
                <a:effectLst/>
                <a:uFillTx/>
                <a:latin typeface="+mn-lt"/>
                <a:ea typeface="+mn-ea"/>
              </a:rPr>
              <a:t>1</a:t>
            </a:fld>
            <a:endParaRPr lang="es-CL" sz="18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PlaceHolder 1"/>
          <p:cNvSpPr>
            <a:spLocks noGrp="1"/>
          </p:cNvSpPr>
          <p:nvPr>
            <p:ph type="sldImg"/>
          </p:nvPr>
        </p:nvSpPr>
        <p:spPr>
          <a:xfrm>
            <a:off x="0" y="0"/>
            <a:ext cx="0" cy="0"/>
          </a:xfrm>
          <a:prstGeom prst="rect">
            <a:avLst/>
          </a:prstGeom>
          <a:ln w="0">
            <a:noFill/>
          </a:ln>
        </p:spPr>
      </p:sp>
      <p:sp>
        <p:nvSpPr>
          <p:cNvPr id="18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s-CL" sz="2000" b="0" u="none" strike="noStrike">
                <a:solidFill>
                  <a:srgbClr val="000000"/>
                </a:solidFill>
                <a:effectLst/>
                <a:uFillTx/>
                <a:latin typeface="Arial"/>
              </a:rPr>
              <a:t>Historia: T13, «Nos vimos con el techo y las paredes encima: profesora relata cómo salvó a niños del tornado», 2019. BioBioChile no publicó un testimonio con nombre; su nota del 30-05-2019 describe el tornado en el sector nororiente de Los Ángeles, y la de julio de 2026 (7 años del brote) recoge la advertencia de que puede repetirse. Cifras del brote: Emol, 01-06-2019 (1 fallecido, 24 heridos, 546 viviendas). Catálogo: Bastías-Curivil et al., Tornadoes and Waterspouts in Chile, figshare, doi:10.6084/m9.figshare.25119566.</a:t>
            </a:r>
            <a:endParaRPr lang="es-CL" sz="2000" b="0" u="none" strike="noStrike">
              <a:solidFill>
                <a:srgbClr val="000000"/>
              </a:solidFill>
              <a:effectLst/>
              <a:uFillTx/>
              <a:latin typeface="Arial"/>
            </a:endParaRPr>
          </a:p>
        </p:txBody>
      </p:sp>
      <p:sp>
        <p:nvSpPr>
          <p:cNvPr id="183" name="PlaceHolder 3"/>
          <p:cNvSpPr>
            <a:spLocks noGrp="1"/>
          </p:cNvSpPr>
          <p:nvPr>
            <p:ph type="sldNum" idx="5"/>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3F36A3E5-018E-4F4F-AAB1-E8EB8ED1A7C7}" type="slidenum">
              <a:rPr lang="en-US" sz="1800" b="0" u="none" strike="noStrike">
                <a:solidFill>
                  <a:schemeClr val="dk1"/>
                </a:solidFill>
                <a:effectLst/>
                <a:uFillTx/>
                <a:latin typeface="+mn-lt"/>
                <a:ea typeface="+mn-ea"/>
              </a:rPr>
              <a:t>1</a:t>
            </a:fld>
            <a:endParaRPr lang="es-CL" sz="18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PlaceHolder 1"/>
          <p:cNvSpPr>
            <a:spLocks noGrp="1"/>
          </p:cNvSpPr>
          <p:nvPr>
            <p:ph type="sldImg"/>
          </p:nvPr>
        </p:nvSpPr>
        <p:spPr>
          <a:xfrm>
            <a:off x="0" y="0"/>
            <a:ext cx="0" cy="0"/>
          </a:xfrm>
          <a:prstGeom prst="rect">
            <a:avLst/>
          </a:prstGeom>
          <a:ln w="0">
            <a:noFill/>
          </a:ln>
        </p:spPr>
      </p:sp>
      <p:sp>
        <p:nvSpPr>
          <p:cNvPr id="18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s-CL" sz="2000" b="0" u="none" strike="noStrike">
                <a:solidFill>
                  <a:srgbClr val="000000"/>
                </a:solidFill>
                <a:effectLst/>
                <a:uFillTx/>
                <a:latin typeface="Arial"/>
              </a:rPr>
              <a:t>Misión: resumen de la descripción del CR2 (cr2.cl). ~60 investigadores: Memoria CR2 2013–2022. 5,5 M: suma del Censo 2024 (INE) para Maule, Ñuble, Biobío, Araucanía, Los Ríos y Los Lagos.</a:t>
            </a:r>
            <a:endParaRPr lang="es-CL" sz="2000" b="0" u="none" strike="noStrike">
              <a:solidFill>
                <a:srgbClr val="000000"/>
              </a:solidFill>
              <a:effectLst/>
              <a:uFillTx/>
              <a:latin typeface="Arial"/>
            </a:endParaRPr>
          </a:p>
        </p:txBody>
      </p:sp>
      <p:sp>
        <p:nvSpPr>
          <p:cNvPr id="186" name="PlaceHolder 3"/>
          <p:cNvSpPr>
            <a:spLocks noGrp="1"/>
          </p:cNvSpPr>
          <p:nvPr>
            <p:ph type="sldNum" idx="6"/>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D4F558CB-3662-4AA4-8B64-A131DFC343B1}" type="slidenum">
              <a:rPr lang="en-US" sz="1800" b="0" u="none" strike="noStrike">
                <a:solidFill>
                  <a:schemeClr val="dk1"/>
                </a:solidFill>
                <a:effectLst/>
                <a:uFillTx/>
                <a:latin typeface="+mn-lt"/>
                <a:ea typeface="+mn-ea"/>
              </a:rPr>
              <a:t>1</a:t>
            </a:fld>
            <a:endParaRPr lang="es-CL" sz="18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PlaceHolder 1"/>
          <p:cNvSpPr>
            <a:spLocks noGrp="1"/>
          </p:cNvSpPr>
          <p:nvPr>
            <p:ph type="sldImg"/>
          </p:nvPr>
        </p:nvSpPr>
        <p:spPr>
          <a:xfrm>
            <a:off x="0" y="0"/>
            <a:ext cx="0" cy="0"/>
          </a:xfrm>
          <a:prstGeom prst="rect">
            <a:avLst/>
          </a:prstGeom>
          <a:ln w="0">
            <a:noFill/>
          </a:ln>
        </p:spPr>
      </p:sp>
      <p:sp>
        <p:nvSpPr>
          <p:cNvPr id="18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s-CL" sz="2000" b="0" u="none" strike="noStrike">
                <a:solidFill>
                  <a:srgbClr val="000000"/>
                </a:solidFill>
                <a:effectLst/>
                <a:uFillTx/>
                <a:latin typeface="Arial"/>
              </a:rPr>
              <a:t>Censo 2024: Maule 1.123.008; Ñuble 512.289; Biobío 1.613.059; Araucanía 1.010.423; Los Ríos 398.230; Los Lagos 890.284. Total 5.547.293 de 18.480.432 (30,0 %). Zona favorable: Marín et al. (2024, MWR 152:1803–1819), máximos de STP ≤ −0,3 entre 36° y 40°S y en Chiloé. Los tornados no figuran como amenaza climática: Rondanelli en El Mostrador, vía cr2.cl.</a:t>
            </a:r>
            <a:endParaRPr lang="es-CL" sz="2000" b="0" u="none" strike="noStrike">
              <a:solidFill>
                <a:srgbClr val="000000"/>
              </a:solidFill>
              <a:effectLst/>
              <a:uFillTx/>
              <a:latin typeface="Arial"/>
            </a:endParaRPr>
          </a:p>
        </p:txBody>
      </p:sp>
      <p:sp>
        <p:nvSpPr>
          <p:cNvPr id="189" name="PlaceHolder 3"/>
          <p:cNvSpPr>
            <a:spLocks noGrp="1"/>
          </p:cNvSpPr>
          <p:nvPr>
            <p:ph type="sldNum" idx="7"/>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994C4D7F-4360-4711-8258-28A898258D0C}" type="slidenum">
              <a:rPr lang="en-US" sz="1800" b="0" u="none" strike="noStrike">
                <a:solidFill>
                  <a:schemeClr val="dk1"/>
                </a:solidFill>
                <a:effectLst/>
                <a:uFillTx/>
                <a:latin typeface="+mn-lt"/>
                <a:ea typeface="+mn-ea"/>
              </a:rPr>
              <a:t>1</a:t>
            </a:fld>
            <a:endParaRPr lang="es-CL" sz="18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type="sldImg"/>
          </p:nvPr>
        </p:nvSpPr>
        <p:spPr>
          <a:xfrm>
            <a:off x="0" y="0"/>
            <a:ext cx="0" cy="0"/>
          </a:xfrm>
          <a:prstGeom prst="rect">
            <a:avLst/>
          </a:prstGeom>
          <a:ln w="0">
            <a:noFill/>
          </a:ln>
        </p:spPr>
      </p:sp>
      <p:sp>
        <p:nvSpPr>
          <p:cNvPr id="19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s-CL" sz="2000" b="0" u="none" strike="noStrike">
                <a:solidFill>
                  <a:srgbClr val="000000"/>
                </a:solidFill>
                <a:effectLst/>
                <a:uFillTx/>
                <a:latin typeface="Arial"/>
              </a:rPr>
              <a:t>Perú: no encontramos estudios publicados de tornados en su costa; se propone como piloto. El «corredor de tornados» sudamericano (Argentina, Uruguay, sur de Brasil) está documentado; Vicencio et al. (2021) comparan los entornos chilenos con tornados de estación fría de latitudes medias.</a:t>
            </a:r>
            <a:endParaRPr lang="es-CL" sz="2000" b="0" u="none" strike="noStrike">
              <a:solidFill>
                <a:srgbClr val="000000"/>
              </a:solidFill>
              <a:effectLst/>
              <a:uFillTx/>
              <a:latin typeface="Arial"/>
            </a:endParaRPr>
          </a:p>
        </p:txBody>
      </p:sp>
      <p:sp>
        <p:nvSpPr>
          <p:cNvPr id="192" name="PlaceHolder 3"/>
          <p:cNvSpPr>
            <a:spLocks noGrp="1"/>
          </p:cNvSpPr>
          <p:nvPr>
            <p:ph type="sldNum" idx="8"/>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AF18EC72-98F4-4512-B3E9-E58A1ADB06D6}" type="slidenum">
              <a:rPr lang="en-US" sz="1800" b="0" u="none" strike="noStrike">
                <a:solidFill>
                  <a:schemeClr val="dk1"/>
                </a:solidFill>
                <a:effectLst/>
                <a:uFillTx/>
                <a:latin typeface="+mn-lt"/>
                <a:ea typeface="+mn-ea"/>
              </a:rPr>
              <a:t>1</a:t>
            </a:fld>
            <a:endParaRPr lang="es-CL" sz="18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PlaceHolder 1"/>
          <p:cNvSpPr>
            <a:spLocks noGrp="1"/>
          </p:cNvSpPr>
          <p:nvPr>
            <p:ph type="sldImg"/>
          </p:nvPr>
        </p:nvSpPr>
        <p:spPr>
          <a:xfrm>
            <a:off x="0" y="0"/>
            <a:ext cx="0" cy="0"/>
          </a:xfrm>
          <a:prstGeom prst="rect">
            <a:avLst/>
          </a:prstGeom>
          <a:ln w="0">
            <a:noFill/>
          </a:ln>
        </p:spPr>
      </p:sp>
      <p:sp>
        <p:nvSpPr>
          <p:cNvPr id="19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s-CL" sz="2000" b="0" u="none" strike="noStrike">
                <a:solidFill>
                  <a:srgbClr val="000000"/>
                </a:solidFill>
                <a:effectLst/>
                <a:uFillTx/>
                <a:latin typeface="Arial"/>
              </a:rPr>
              <a:t>Línea base de detección: según Vicencio et al. (2021, BAMS 102(3), doi:10.1175/BAMS-D-19-0218.1), el STP con su umbral clásico no habría señalado el brote de mayo de 2019 (7 tornados). Falsas alarmas y alertas por tornado: estimación propia. Marín et al. (2024) reportan 3–4 días al mes con SHERBE ≥ 1 entre mayo y septiembre (~17 días al año); el catálogo tiene 38 días con evento desde 2018 (~5 al año). Eso da ~70 % de días sin tornado registrado y ~4 días de alerta por día con tornado. El subregistro infla las falsas alarmas. Las metas son una propuesta.</a:t>
            </a:r>
            <a:endParaRPr lang="es-CL" sz="2000" b="0" u="none" strike="noStrike">
              <a:solidFill>
                <a:srgbClr val="000000"/>
              </a:solidFill>
              <a:effectLst/>
              <a:uFillTx/>
              <a:latin typeface="Arial"/>
            </a:endParaRPr>
          </a:p>
        </p:txBody>
      </p:sp>
      <p:sp>
        <p:nvSpPr>
          <p:cNvPr id="195" name="PlaceHolder 3"/>
          <p:cNvSpPr>
            <a:spLocks noGrp="1"/>
          </p:cNvSpPr>
          <p:nvPr>
            <p:ph type="sldNum" idx="9"/>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4A03777D-6999-484E-8B81-F48F43E0FA8A}" type="slidenum">
              <a:rPr lang="en-US" sz="1800" b="0" u="none" strike="noStrike">
                <a:solidFill>
                  <a:schemeClr val="dk1"/>
                </a:solidFill>
                <a:effectLst/>
                <a:uFillTx/>
                <a:latin typeface="+mn-lt"/>
                <a:ea typeface="+mn-ea"/>
              </a:rPr>
              <a:t>1</a:t>
            </a:fld>
            <a:endParaRPr lang="es-CL" sz="18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PlaceHolder 1"/>
          <p:cNvSpPr>
            <a:spLocks noGrp="1"/>
          </p:cNvSpPr>
          <p:nvPr>
            <p:ph type="sldImg"/>
          </p:nvPr>
        </p:nvSpPr>
        <p:spPr>
          <a:xfrm>
            <a:off x="0" y="0"/>
            <a:ext cx="0" cy="0"/>
          </a:xfrm>
          <a:prstGeom prst="rect">
            <a:avLst/>
          </a:prstGeom>
          <a:ln w="0">
            <a:noFill/>
          </a:ln>
        </p:spPr>
      </p:sp>
      <p:sp>
        <p:nvSpPr>
          <p:cNvPr id="19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s-CL" sz="2000" b="0" u="none" strike="noStrike">
                <a:solidFill>
                  <a:srgbClr val="000000"/>
                </a:solidFill>
                <a:effectLst/>
                <a:uFillTx/>
                <a:latin typeface="Arial"/>
              </a:rPr>
              <a:t>Los tornados de 2026 para evaluar vienen de la base interna del CR2, que no es pública.</a:t>
            </a:r>
            <a:endParaRPr lang="es-CL" sz="2000" b="0" u="none" strike="noStrike">
              <a:solidFill>
                <a:srgbClr val="000000"/>
              </a:solidFill>
              <a:effectLst/>
              <a:uFillTx/>
              <a:latin typeface="Arial"/>
            </a:endParaRPr>
          </a:p>
        </p:txBody>
      </p:sp>
      <p:sp>
        <p:nvSpPr>
          <p:cNvPr id="198" name="PlaceHolder 3"/>
          <p:cNvSpPr>
            <a:spLocks noGrp="1"/>
          </p:cNvSpPr>
          <p:nvPr>
            <p:ph type="sldNum" idx="10"/>
          </p:nvPr>
        </p:nvSpPr>
        <p:spPr>
          <a:xfrm>
            <a:off x="0" y="0"/>
            <a:ext cx="0" cy="0"/>
          </a:xfrm>
          <a:prstGeom prst="rect">
            <a:avLst/>
          </a:prstGeom>
          <a:noFill/>
          <a:ln w="0">
            <a:noFill/>
          </a:ln>
        </p:spPr>
        <p:txBody>
          <a:bodyPr lIns="90000" tIns="-45000" rIns="90000" bIns="-45000" anchor="t">
            <a:noAutofit/>
          </a:bodyPr>
          <a:lstStyle>
            <a:lvl1pPr indent="0" algn="l" defTabSz="914400">
              <a:lnSpc>
                <a:spcPct val="100000"/>
              </a:lnSpc>
              <a:buNone/>
              <a:defRPr lang="en-US" sz="1800" b="0" u="none" strike="noStrike">
                <a:solidFill>
                  <a:schemeClr val="dk1"/>
                </a:solidFill>
                <a:effectLst/>
                <a:uFillTx/>
                <a:latin typeface="+mn-lt"/>
                <a:ea typeface="+mn-ea"/>
              </a:defRPr>
            </a:lvl1pPr>
          </a:lstStyle>
          <a:p>
            <a:pPr indent="0" algn="l" defTabSz="914400">
              <a:lnSpc>
                <a:spcPct val="100000"/>
              </a:lnSpc>
              <a:buNone/>
            </a:pPr>
            <a:fld id="{EBA0B49D-03D7-4FEC-B2A5-FA7EB46C191D}" type="slidenum">
              <a:rPr lang="en-US" sz="1800" b="0" u="none" strike="noStrike">
                <a:solidFill>
                  <a:schemeClr val="dk1"/>
                </a:solidFill>
                <a:effectLst/>
                <a:uFillTx/>
                <a:latin typeface="+mn-lt"/>
                <a:ea typeface="+mn-ea"/>
              </a:rPr>
              <a:t>1</a:t>
            </a:fld>
            <a:endParaRPr lang="es-CL" sz="18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s-CL" sz="1800" b="0" u="none" strike="noStrike">
                <a:solidFill>
                  <a:schemeClr val="dk1"/>
                </a:solidFill>
                <a:effectLst/>
                <a:uFillTx/>
                <a:latin typeface="Calibri"/>
              </a:defRPr>
            </a:lvl1pPr>
          </a:lstStyle>
          <a:p>
            <a:pPr indent="0" algn="l">
              <a:buNone/>
            </a:pPr>
            <a:r>
              <a:rPr lang="es-CL" sz="1800" b="0" u="none" strike="noStrike">
                <a:solidFill>
                  <a:schemeClr val="dk1"/>
                </a:solidFill>
                <a:effectLst/>
                <a:uFillTx/>
                <a:latin typeface="Calibri"/>
              </a:rPr>
              <a:t>Click to edit </a:t>
            </a:r>
            <a:r>
              <a:rPr lang="es-CL" sz="1800" b="0" u="none" strike="noStrike">
                <a:solidFill>
                  <a:schemeClr val="dk1"/>
                </a:solidFill>
                <a:effectLst/>
                <a:uFillTx/>
                <a:latin typeface="Calibri"/>
              </a:rPr>
              <a:t>the title text </a:t>
            </a:r>
            <a:r>
              <a:rPr lang="es-CL" sz="1800" b="0" u="none" strike="noStrike">
                <a:solidFill>
                  <a:schemeClr val="dk1"/>
                </a:solidFill>
                <a:effectLst/>
                <a:uFillTx/>
                <a:latin typeface="Calibri"/>
              </a:rPr>
              <a:t>format</a:t>
            </a:r>
            <a:endParaRPr lang="es-CL" sz="1800" b="0" u="none" strike="noStrike">
              <a:solidFill>
                <a:schemeClr val="dk1"/>
              </a:solidFill>
              <a:effectLst/>
              <a:uFillTx/>
              <a:latin typeface="Calibri"/>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s-CL"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s-CL"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s-CL"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s-CL"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s-CL"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s-CL"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s-CL"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s-CL" sz="3200" b="0" u="none" strike="noStrike">
                <a:solidFill>
                  <a:schemeClr val="dk1"/>
                </a:solidFill>
                <a:effectLst/>
                <a:uFillTx/>
                <a:latin typeface="Calibri"/>
              </a:rPr>
              <a:t>Click to edit the outline text format</a:t>
            </a:r>
            <a:endParaRPr lang="es-CL"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s-CL" sz="2400" b="0" u="none" strike="noStrike">
                <a:solidFill>
                  <a:schemeClr val="dk1"/>
                </a:solidFill>
                <a:effectLst/>
                <a:uFillTx/>
                <a:latin typeface="Calibri"/>
              </a:rPr>
              <a:t>Second Outline Level</a:t>
            </a:r>
            <a:endParaRPr lang="es-CL"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s-CL" sz="2000" b="0" u="none" strike="noStrike">
                <a:solidFill>
                  <a:schemeClr val="dk1"/>
                </a:solidFill>
                <a:effectLst/>
                <a:uFillTx/>
                <a:latin typeface="Calibri"/>
              </a:rPr>
              <a:t>Third Outline Level</a:t>
            </a:r>
            <a:endParaRPr lang="es-CL"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s-CL" sz="2000" b="0" u="none" strike="noStrike">
                <a:solidFill>
                  <a:schemeClr val="dk1"/>
                </a:solidFill>
                <a:effectLst/>
                <a:uFillTx/>
                <a:latin typeface="Calibri"/>
              </a:rPr>
              <a:t>Fourth Outline Level</a:t>
            </a:r>
            <a:endParaRPr lang="es-CL"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s-CL" sz="2000" b="0" u="none" strike="noStrike">
                <a:solidFill>
                  <a:schemeClr val="dk1"/>
                </a:solidFill>
                <a:effectLst/>
                <a:uFillTx/>
                <a:latin typeface="Calibri"/>
              </a:rPr>
              <a:t>Fifth Outline Level</a:t>
            </a:r>
            <a:endParaRPr lang="es-CL"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s-CL" sz="2000" b="0" u="none" strike="noStrike">
                <a:solidFill>
                  <a:schemeClr val="dk1"/>
                </a:solidFill>
                <a:effectLst/>
                <a:uFillTx/>
                <a:latin typeface="Calibri"/>
              </a:rPr>
              <a:t>Sixth Outline Level</a:t>
            </a:r>
            <a:endParaRPr lang="es-CL"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s-CL" sz="2000" b="0" u="none" strike="noStrike">
                <a:solidFill>
                  <a:schemeClr val="dk1"/>
                </a:solidFill>
                <a:effectLst/>
                <a:uFillTx/>
                <a:latin typeface="Calibri"/>
              </a:rPr>
              <a:t>Seventh Outline Level</a:t>
            </a:r>
            <a:endParaRPr lang="es-CL"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3.png"/><Relationship Id="rId4" Type="http://schemas.openxmlformats.org/officeDocument/2006/relationships/image" Target="../media/image4.svg"/><Relationship Id="rId5" Type="http://schemas.openxmlformats.org/officeDocument/2006/relationships/image" Target="../media/image5.png"/><Relationship Id="rId6" Type="http://schemas.openxmlformats.org/officeDocument/2006/relationships/image" Target="../media/image6.svg"/><Relationship Id="rId7" Type="http://schemas.openxmlformats.org/officeDocument/2006/relationships/image" Target="../media/image7.png"/><Relationship Id="rId8" Type="http://schemas.openxmlformats.org/officeDocument/2006/relationships/slideLayout" Target="../slideLayouts/slideLayout1.xml"/><Relationship Id="rId9"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svg"/><Relationship Id="rId3" Type="http://schemas.openxmlformats.org/officeDocument/2006/relationships/image" Target="../media/image10.png"/><Relationship Id="rId4" Type="http://schemas.openxmlformats.org/officeDocument/2006/relationships/image" Target="../media/image11.svg"/><Relationship Id="rId5" Type="http://schemas.openxmlformats.org/officeDocument/2006/relationships/image" Target="../media/image12.png"/><Relationship Id="rId6" Type="http://schemas.openxmlformats.org/officeDocument/2006/relationships/image" Target="../media/image13.svg"/><Relationship Id="rId7" Type="http://schemas.openxmlformats.org/officeDocument/2006/relationships/image" Target="../media/image14.png"/><Relationship Id="rId8" Type="http://schemas.openxmlformats.org/officeDocument/2006/relationships/image" Target="../media/image15.svg"/><Relationship Id="rId9" Type="http://schemas.openxmlformats.org/officeDocument/2006/relationships/slideLayout" Target="../slideLayouts/slideLayout1.xml"/><Relationship Id="rId10"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svg"/><Relationship Id="rId3" Type="http://schemas.openxmlformats.org/officeDocument/2006/relationships/image" Target="../media/image18.png"/><Relationship Id="rId4" Type="http://schemas.openxmlformats.org/officeDocument/2006/relationships/image" Target="../media/image19.svg"/><Relationship Id="rId5" Type="http://schemas.openxmlformats.org/officeDocument/2006/relationships/image" Target="../media/image20.png"/><Relationship Id="rId6" Type="http://schemas.openxmlformats.org/officeDocument/2006/relationships/image" Target="../media/image21.svg"/><Relationship Id="rId7" Type="http://schemas.openxmlformats.org/officeDocument/2006/relationships/image" Target="../media/image22.png"/><Relationship Id="rId8" Type="http://schemas.openxmlformats.org/officeDocument/2006/relationships/image" Target="../media/image23.svg"/><Relationship Id="rId9" Type="http://schemas.openxmlformats.org/officeDocument/2006/relationships/slideLayout" Target="../slideLayouts/slideLayout1.xml"/><Relationship Id="rId10"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5.svg"/><Relationship Id="rId3" Type="http://schemas.openxmlformats.org/officeDocument/2006/relationships/image" Target="../media/image26.png"/><Relationship Id="rId4" Type="http://schemas.openxmlformats.org/officeDocument/2006/relationships/image" Target="../media/image27.svg"/><Relationship Id="rId5" Type="http://schemas.openxmlformats.org/officeDocument/2006/relationships/image" Target="../media/image28.png"/><Relationship Id="rId6" Type="http://schemas.openxmlformats.org/officeDocument/2006/relationships/image" Target="../media/image29.svg"/><Relationship Id="rId7" Type="http://schemas.openxmlformats.org/officeDocument/2006/relationships/slideLayout" Target="../slideLayouts/slideLayout1.xml"/><Relationship Id="rId8"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image" Target="../media/image31.svg"/><Relationship Id="rId3" Type="http://schemas.openxmlformats.org/officeDocument/2006/relationships/image" Target="../media/image32.png"/><Relationship Id="rId4" Type="http://schemas.openxmlformats.org/officeDocument/2006/relationships/image" Target="../media/image33.svg"/><Relationship Id="rId5" Type="http://schemas.openxmlformats.org/officeDocument/2006/relationships/image" Target="../media/image34.png"/><Relationship Id="rId6" Type="http://schemas.openxmlformats.org/officeDocument/2006/relationships/image" Target="../media/image35.svg"/><Relationship Id="rId7" Type="http://schemas.openxmlformats.org/officeDocument/2006/relationships/image" Target="../media/image34.png"/><Relationship Id="rId8" Type="http://schemas.openxmlformats.org/officeDocument/2006/relationships/image" Target="../media/image35.svg"/><Relationship Id="rId9" Type="http://schemas.openxmlformats.org/officeDocument/2006/relationships/image" Target="../media/image34.png"/><Relationship Id="rId10" Type="http://schemas.openxmlformats.org/officeDocument/2006/relationships/image" Target="../media/image35.svg"/><Relationship Id="rId11" Type="http://schemas.openxmlformats.org/officeDocument/2006/relationships/image" Target="../media/image36.png"/><Relationship Id="rId12" Type="http://schemas.openxmlformats.org/officeDocument/2006/relationships/image" Target="../media/image37.svg"/><Relationship Id="rId13" Type="http://schemas.openxmlformats.org/officeDocument/2006/relationships/slideLayout" Target="../slideLayouts/slideLayout1.xml"/><Relationship Id="rId1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image" Target="../media/image39.svg"/><Relationship Id="rId3" Type="http://schemas.openxmlformats.org/officeDocument/2006/relationships/image" Target="../media/image40.png"/><Relationship Id="rId4" Type="http://schemas.openxmlformats.org/officeDocument/2006/relationships/image" Target="../media/image41.svg"/><Relationship Id="rId5" Type="http://schemas.openxmlformats.org/officeDocument/2006/relationships/image" Target="../media/image42.png"/><Relationship Id="rId6" Type="http://schemas.openxmlformats.org/officeDocument/2006/relationships/image" Target="../media/image43.svg"/><Relationship Id="rId7" Type="http://schemas.openxmlformats.org/officeDocument/2006/relationships/image" Target="../media/image44.png"/><Relationship Id="rId8" Type="http://schemas.openxmlformats.org/officeDocument/2006/relationships/image" Target="../media/image45.svg"/><Relationship Id="rId9" Type="http://schemas.openxmlformats.org/officeDocument/2006/relationships/slideLayout" Target="../slideLayouts/slideLayout1.xml"/><Relationship Id="rId10"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46.png"/><Relationship Id="rId2" Type="http://schemas.openxmlformats.org/officeDocument/2006/relationships/image" Target="../media/image47.svg"/><Relationship Id="rId3" Type="http://schemas.openxmlformats.org/officeDocument/2006/relationships/image" Target="../media/image48.png"/><Relationship Id="rId4" Type="http://schemas.openxmlformats.org/officeDocument/2006/relationships/image" Target="../media/image49.svg"/><Relationship Id="rId5" Type="http://schemas.openxmlformats.org/officeDocument/2006/relationships/slideLayout" Target="../slideLayouts/slideLayout1.xml"/><Relationship Id="rId6" Type="http://schemas.openxmlformats.org/officeDocument/2006/relationships/notesSlide" Target="../notesSlides/notesSlide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32F3E"/>
        </a:solidFill>
      </p:bgPr>
    </p:bg>
    <p:spTree>
      <p:nvGrpSpPr>
        <p:cNvPr id="1" name=""/>
        <p:cNvGrpSpPr/>
        <p:nvPr/>
      </p:nvGrpSpPr>
      <p:grpSpPr>
        <a:xfrm>
          <a:off x="0" y="0"/>
          <a:ext cx="0" cy="0"/>
          <a:chOff x="0" y="0"/>
          <a:chExt cx="0" cy="0"/>
        </a:xfrm>
      </p:grpSpPr>
      <p:sp>
        <p:nvSpPr>
          <p:cNvPr id="10" name="Shape 0"/>
          <p:cNvSpPr/>
          <p:nvPr/>
        </p:nvSpPr>
        <p:spPr>
          <a:xfrm>
            <a:off x="8778240" y="-1828800"/>
            <a:ext cx="5028840" cy="5028840"/>
          </a:xfrm>
          <a:prstGeom prst="ellipse">
            <a:avLst/>
          </a:prstGeom>
          <a:solidFill>
            <a:srgbClr val="FF9900">
              <a:alpha val="18000"/>
            </a:srgbClr>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 name="Shape 1"/>
          <p:cNvSpPr/>
          <p:nvPr/>
        </p:nvSpPr>
        <p:spPr>
          <a:xfrm>
            <a:off x="9875520" y="4023360"/>
            <a:ext cx="3840120" cy="3840120"/>
          </a:xfrm>
          <a:prstGeom prst="ellipse">
            <a:avLst/>
          </a:prstGeom>
          <a:solidFill>
            <a:srgbClr val="00A1C9">
              <a:alpha val="14000"/>
            </a:srgbClr>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2" name="Text 2"/>
          <p:cNvSpPr/>
          <p:nvPr/>
        </p:nvSpPr>
        <p:spPr>
          <a:xfrm>
            <a:off x="1600200" y="603360"/>
            <a:ext cx="6400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201" strike="noStrike">
                <a:solidFill>
                  <a:srgbClr val="C8D1DC"/>
                </a:solidFill>
                <a:effectLst/>
                <a:uFillTx/>
                <a:latin typeface="Trebuchet MS"/>
                <a:ea typeface="Trebuchet MS"/>
              </a:rPr>
              <a:t>BREAKING BARRIERS  ·  CHILE 2026</a:t>
            </a:r>
            <a:endParaRPr lang="es-CL" sz="1100" b="0" u="none" strike="noStrike">
              <a:solidFill>
                <a:srgbClr val="FFFFFF"/>
              </a:solidFill>
              <a:effectLst/>
              <a:uFillTx/>
              <a:latin typeface="Arial"/>
            </a:endParaRPr>
          </a:p>
        </p:txBody>
      </p:sp>
      <p:sp>
        <p:nvSpPr>
          <p:cNvPr id="13" name="Text 3"/>
          <p:cNvSpPr/>
          <p:nvPr/>
        </p:nvSpPr>
        <p:spPr>
          <a:xfrm>
            <a:off x="685800" y="2057400"/>
            <a:ext cx="54860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s-CL" sz="1200" b="1" u="none" spc="99" strike="noStrike">
                <a:solidFill>
                  <a:srgbClr val="FF9900"/>
                </a:solidFill>
                <a:effectLst/>
                <a:uFillTx/>
                <a:latin typeface="Trebuchet MS"/>
                <a:ea typeface="Trebuchet MS"/>
              </a:rPr>
              <a:t>HACKATÓN DE IA GENERATIVA  ·  </a:t>
            </a:r>
            <a:r>
              <a:rPr lang="es-CL" sz="1200" b="1" u="none" spc="99" strike="noStrike">
                <a:solidFill>
                  <a:srgbClr val="FF9900"/>
                </a:solidFill>
                <a:effectLst/>
                <a:uFillTx/>
                <a:latin typeface="Trebuchet MS"/>
                <a:ea typeface="Trebuchet MS"/>
              </a:rPr>
              <a:t>DESAFÍO</a:t>
            </a:r>
            <a:endParaRPr lang="es-CL" sz="1200" b="0" u="none" strike="noStrike">
              <a:solidFill>
                <a:srgbClr val="FFFFFF"/>
              </a:solidFill>
              <a:effectLst/>
              <a:uFillTx/>
              <a:latin typeface="Arial"/>
            </a:endParaRPr>
          </a:p>
        </p:txBody>
      </p:sp>
      <p:sp>
        <p:nvSpPr>
          <p:cNvPr id="14" name="Text 4"/>
          <p:cNvSpPr/>
          <p:nvPr/>
        </p:nvSpPr>
        <p:spPr>
          <a:xfrm>
            <a:off x="667440" y="2468880"/>
            <a:ext cx="10789560" cy="1371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s-CL" sz="4400" b="1" u="none" strike="noStrike">
                <a:solidFill>
                  <a:srgbClr val="FFFFFF"/>
                </a:solidFill>
                <a:effectLst/>
                <a:uFillTx/>
                <a:latin typeface="Trebuchet MS"/>
                <a:ea typeface="Trebuchet MS"/>
              </a:rPr>
              <a:t>Detección Temprana de Tornados en </a:t>
            </a:r>
            <a:r>
              <a:rPr lang="es-CL" sz="4400" b="1" u="none" strike="noStrike">
                <a:solidFill>
                  <a:srgbClr val="FFFFFF"/>
                </a:solidFill>
                <a:effectLst/>
                <a:uFillTx/>
                <a:latin typeface="Trebuchet MS"/>
                <a:ea typeface="Trebuchet MS"/>
              </a:rPr>
              <a:t>Chile</a:t>
            </a:r>
            <a:endParaRPr lang="es-CL" sz="4400" b="0" u="none" strike="noStrike">
              <a:solidFill>
                <a:srgbClr val="FFFFFF"/>
              </a:solidFill>
              <a:effectLst/>
              <a:uFillTx/>
              <a:latin typeface="Arial"/>
            </a:endParaRPr>
          </a:p>
        </p:txBody>
      </p:sp>
      <p:sp>
        <p:nvSpPr>
          <p:cNvPr id="15" name="Text 5"/>
          <p:cNvSpPr/>
          <p:nvPr/>
        </p:nvSpPr>
        <p:spPr>
          <a:xfrm>
            <a:off x="685800" y="3886200"/>
            <a:ext cx="9875160" cy="822600"/>
          </a:xfrm>
          <a:prstGeom prst="rect">
            <a:avLst/>
          </a:prstGeom>
          <a:noFill/>
          <a:ln w="0">
            <a:noFill/>
          </a:ln>
        </p:spPr>
        <p:style>
          <a:lnRef idx="0"/>
          <a:fillRef idx="0"/>
          <a:effectRef idx="0"/>
          <a:fontRef idx="minor"/>
        </p:style>
        <p:txBody>
          <a:bodyPr lIns="0" tIns="0" rIns="0" bIns="0" anchor="ctr">
            <a:noAutofit/>
          </a:bodyPr>
          <a:p>
            <a:pPr defTabSz="914400">
              <a:lnSpc>
                <a:spcPts val="2200"/>
              </a:lnSpc>
              <a:tabLst>
                <a:tab pos="0" algn="l"/>
              </a:tabLst>
            </a:pPr>
            <a:r>
              <a:rPr lang="es-CL" sz="1600" b="0" i="1" u="none" strike="noStrike">
                <a:solidFill>
                  <a:srgbClr val="C8D1DC"/>
                </a:solidFill>
                <a:effectLst/>
                <a:uFillTx/>
                <a:latin typeface="Calibri"/>
                <a:ea typeface="Calibri"/>
              </a:rPr>
              <a:t>Chile no tiene una red de radares meteorológicos. Con ERA5, GOES y 102 tornados documentados</a:t>
            </a:r>
            <a:endParaRPr lang="es-CL" sz="1600" b="0" u="none" strike="noStrike">
              <a:solidFill>
                <a:srgbClr val="FFFFFF"/>
              </a:solidFill>
              <a:effectLst/>
              <a:uFillTx/>
              <a:latin typeface="Arial"/>
            </a:endParaRPr>
          </a:p>
          <a:p>
            <a:pPr defTabSz="914400">
              <a:lnSpc>
                <a:spcPts val="2200"/>
              </a:lnSpc>
              <a:tabLst>
                <a:tab pos="0" algn="l"/>
              </a:tabLst>
            </a:pPr>
            <a:r>
              <a:rPr lang="es-CL" sz="1600" b="0" i="1" u="none" strike="noStrike">
                <a:solidFill>
                  <a:srgbClr val="C8D1DC"/>
                </a:solidFill>
                <a:effectLst/>
                <a:uFillTx/>
                <a:latin typeface="Calibri"/>
                <a:ea typeface="Calibri"/>
              </a:rPr>
              <a:t>¿Podrías reconocer qué tormentas podrían desarrollan un tornado?</a:t>
            </a:r>
            <a:endParaRPr lang="es-CL" sz="1600" b="0" u="none" strike="noStrike">
              <a:solidFill>
                <a:srgbClr val="FFFFFF"/>
              </a:solidFill>
              <a:effectLst/>
              <a:uFillTx/>
              <a:latin typeface="Arial"/>
            </a:endParaRPr>
          </a:p>
        </p:txBody>
      </p:sp>
      <p:sp>
        <p:nvSpPr>
          <p:cNvPr id="16" name="Shape 6"/>
          <p:cNvSpPr/>
          <p:nvPr/>
        </p:nvSpPr>
        <p:spPr>
          <a:xfrm>
            <a:off x="685800" y="5074920"/>
            <a:ext cx="3520080" cy="566640"/>
          </a:xfrm>
          <a:prstGeom prst="roundRect">
            <a:avLst>
              <a:gd name="adj" fmla="val 12903"/>
            </a:avLst>
          </a:prstGeom>
          <a:solidFill>
            <a:srgbClr val="161E2D"/>
          </a:solidFill>
          <a:ln w="12700">
            <a:solidFill>
              <a:srgbClr val="3A465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pic>
        <p:nvPicPr>
          <p:cNvPr id="17" name="Image 1" descr="icon_0e5nytab4o36.svg"/>
          <p:cNvPicPr/>
          <p:nvPr/>
        </p:nvPicPr>
        <p:blipFill>
          <a:blip r:embed="rId1">
            <a:extLst>
              <a:ext uri="{96DAC541-7B7A-43D3-8B79-37D633B846F1}">
                <asvg:svgBlip xmlns:asvg="http://schemas.microsoft.com/office/drawing/2016/SVG/main" r:embed="rId2"/>
              </a:ext>
            </a:extLst>
          </a:blip>
          <a:stretch/>
        </p:blipFill>
        <p:spPr>
          <a:xfrm>
            <a:off x="831960" y="5230440"/>
            <a:ext cx="255600" cy="255600"/>
          </a:xfrm>
          <a:prstGeom prst="rect">
            <a:avLst/>
          </a:prstGeom>
          <a:noFill/>
          <a:ln w="0">
            <a:noFill/>
          </a:ln>
        </p:spPr>
      </p:pic>
      <p:sp>
        <p:nvSpPr>
          <p:cNvPr id="18" name="Text 7"/>
          <p:cNvSpPr/>
          <p:nvPr/>
        </p:nvSpPr>
        <p:spPr>
          <a:xfrm>
            <a:off x="1188720" y="5074920"/>
            <a:ext cx="292572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s-CL" sz="1050" b="0" u="none" strike="noStrike">
                <a:solidFill>
                  <a:srgbClr val="FFFFFF"/>
                </a:solidFill>
                <a:effectLst/>
                <a:uFillTx/>
                <a:latin typeface="Calibri"/>
                <a:ea typeface="Calibri"/>
              </a:rPr>
              <a:t>CR2 · Universidad de Chile</a:t>
            </a:r>
            <a:endParaRPr lang="es-CL" sz="1050" b="0" u="none" strike="noStrike">
              <a:solidFill>
                <a:srgbClr val="FFFFFF"/>
              </a:solidFill>
              <a:effectLst/>
              <a:uFillTx/>
              <a:latin typeface="Arial"/>
            </a:endParaRPr>
          </a:p>
        </p:txBody>
      </p:sp>
      <p:sp>
        <p:nvSpPr>
          <p:cNvPr id="19" name="Shape 8"/>
          <p:cNvSpPr/>
          <p:nvPr/>
        </p:nvSpPr>
        <p:spPr>
          <a:xfrm>
            <a:off x="4389120" y="5074920"/>
            <a:ext cx="3520080" cy="566640"/>
          </a:xfrm>
          <a:prstGeom prst="roundRect">
            <a:avLst>
              <a:gd name="adj" fmla="val 12903"/>
            </a:avLst>
          </a:prstGeom>
          <a:solidFill>
            <a:srgbClr val="161E2D"/>
          </a:solidFill>
          <a:ln w="12700">
            <a:solidFill>
              <a:srgbClr val="3A465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pic>
        <p:nvPicPr>
          <p:cNvPr id="20" name="Image 2" descr="icon_b8qocxyktli.svg"/>
          <p:cNvPicPr/>
          <p:nvPr/>
        </p:nvPicPr>
        <p:blipFill>
          <a:blip r:embed="rId3">
            <a:extLst>
              <a:ext uri="{96DAC541-7B7A-43D3-8B79-37D633B846F1}">
                <asvg:svgBlip xmlns:asvg="http://schemas.microsoft.com/office/drawing/2016/SVG/main" r:embed="rId4"/>
              </a:ext>
            </a:extLst>
          </a:blip>
          <a:stretch/>
        </p:blipFill>
        <p:spPr>
          <a:xfrm>
            <a:off x="4535280" y="5230440"/>
            <a:ext cx="255600" cy="255600"/>
          </a:xfrm>
          <a:prstGeom prst="rect">
            <a:avLst/>
          </a:prstGeom>
          <a:noFill/>
          <a:ln w="0">
            <a:noFill/>
          </a:ln>
        </p:spPr>
      </p:pic>
      <p:sp>
        <p:nvSpPr>
          <p:cNvPr id="21" name="Text 9"/>
          <p:cNvSpPr/>
          <p:nvPr/>
        </p:nvSpPr>
        <p:spPr>
          <a:xfrm>
            <a:off x="4892040" y="5074920"/>
            <a:ext cx="292572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s-CL" sz="1050" b="0" u="none" strike="noStrike">
                <a:solidFill>
                  <a:srgbClr val="FFFFFF"/>
                </a:solidFill>
                <a:effectLst/>
                <a:uFillTx/>
                <a:latin typeface="Calibri"/>
                <a:ea typeface="Calibri"/>
              </a:rPr>
              <a:t>Sustentabilidad: riesgo climático</a:t>
            </a:r>
            <a:endParaRPr lang="es-CL" sz="1050" b="0" u="none" strike="noStrike">
              <a:solidFill>
                <a:srgbClr val="FFFFFF"/>
              </a:solidFill>
              <a:effectLst/>
              <a:uFillTx/>
              <a:latin typeface="Arial"/>
            </a:endParaRPr>
          </a:p>
        </p:txBody>
      </p:sp>
      <p:sp>
        <p:nvSpPr>
          <p:cNvPr id="22" name="Shape 10"/>
          <p:cNvSpPr/>
          <p:nvPr/>
        </p:nvSpPr>
        <p:spPr>
          <a:xfrm>
            <a:off x="8092440" y="5074920"/>
            <a:ext cx="3520080" cy="566640"/>
          </a:xfrm>
          <a:prstGeom prst="roundRect">
            <a:avLst>
              <a:gd name="adj" fmla="val 12903"/>
            </a:avLst>
          </a:prstGeom>
          <a:solidFill>
            <a:srgbClr val="161E2D"/>
          </a:solidFill>
          <a:ln w="12700">
            <a:solidFill>
              <a:srgbClr val="3A465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pic>
        <p:nvPicPr>
          <p:cNvPr id="23" name="Image 3" descr="icon_kan9fp7bmv.svg"/>
          <p:cNvPicPr/>
          <p:nvPr/>
        </p:nvPicPr>
        <p:blipFill>
          <a:blip r:embed="rId5">
            <a:extLst>
              <a:ext uri="{96DAC541-7B7A-43D3-8B79-37D633B846F1}">
                <asvg:svgBlip xmlns:asvg="http://schemas.microsoft.com/office/drawing/2016/SVG/main" r:embed="rId6"/>
              </a:ext>
            </a:extLst>
          </a:blip>
          <a:stretch/>
        </p:blipFill>
        <p:spPr>
          <a:xfrm>
            <a:off x="8238600" y="5230440"/>
            <a:ext cx="255600" cy="255600"/>
          </a:xfrm>
          <a:prstGeom prst="rect">
            <a:avLst/>
          </a:prstGeom>
          <a:noFill/>
          <a:ln w="0">
            <a:noFill/>
          </a:ln>
        </p:spPr>
      </p:pic>
      <p:sp>
        <p:nvSpPr>
          <p:cNvPr id="24" name="Text 11"/>
          <p:cNvSpPr/>
          <p:nvPr/>
        </p:nvSpPr>
        <p:spPr>
          <a:xfrm>
            <a:off x="8595360" y="5074920"/>
            <a:ext cx="292572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s-CL" sz="1050" b="0" u="none" strike="noStrike">
                <a:solidFill>
                  <a:srgbClr val="FFFFFF"/>
                </a:solidFill>
                <a:effectLst/>
                <a:uFillTx/>
                <a:latin typeface="Calibri"/>
                <a:ea typeface="Calibri"/>
              </a:rPr>
              <a:t>Roberto Rondanelli, director del CR2</a:t>
            </a:r>
            <a:endParaRPr lang="es-CL" sz="1050" b="0" u="none" strike="noStrike">
              <a:solidFill>
                <a:srgbClr val="FFFFFF"/>
              </a:solidFill>
              <a:effectLst/>
              <a:uFillTx/>
              <a:latin typeface="Arial"/>
            </a:endParaRPr>
          </a:p>
        </p:txBody>
      </p:sp>
      <p:sp>
        <p:nvSpPr>
          <p:cNvPr id="25" name="Text 12"/>
          <p:cNvSpPr/>
          <p:nvPr/>
        </p:nvSpPr>
        <p:spPr>
          <a:xfrm>
            <a:off x="685800" y="6172200"/>
            <a:ext cx="100580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s-CL" sz="1200" b="1" u="none" strike="noStrike">
                <a:solidFill>
                  <a:srgbClr val="FF9900"/>
                </a:solidFill>
                <a:effectLst/>
                <a:uFillTx/>
                <a:latin typeface="Calibri"/>
                <a:ea typeface="Calibri"/>
              </a:rPr>
              <a:t>14 - 16 de octubre de 2026   ·   Universidad de Chile, Beauchef 851, Santiago</a:t>
            </a:r>
            <a:endParaRPr lang="es-CL" sz="1200" b="0" u="none" strike="noStrike">
              <a:solidFill>
                <a:srgbClr val="FFFFFF"/>
              </a:solidFill>
              <a:effectLst/>
              <a:uFillTx/>
              <a:latin typeface="Arial"/>
            </a:endParaRPr>
          </a:p>
        </p:txBody>
      </p:sp>
      <p:pic>
        <p:nvPicPr>
          <p:cNvPr id="26" name="Picture 18" descr="The National Intelligence Center of Spain and AWS collaborate to promote public sector cybersecurity | AWS Security Blog"/>
          <p:cNvPicPr/>
          <p:nvPr/>
        </p:nvPicPr>
        <p:blipFill>
          <a:blip r:embed="rId7"/>
          <a:stretch/>
        </p:blipFill>
        <p:spPr>
          <a:xfrm>
            <a:off x="189720" y="409320"/>
            <a:ext cx="1382760" cy="92160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8"/>
        </a:solidFill>
      </p:bgPr>
    </p:bg>
    <p:spTree>
      <p:nvGrpSpPr>
        <p:cNvPr id="1" name=""/>
        <p:cNvGrpSpPr/>
        <p:nvPr/>
      </p:nvGrpSpPr>
      <p:grpSpPr>
        <a:xfrm>
          <a:off x="0" y="0"/>
          <a:ext cx="0" cy="0"/>
          <a:chOff x="0" y="0"/>
          <a:chExt cx="0" cy="0"/>
        </a:xfrm>
      </p:grpSpPr>
      <p:sp>
        <p:nvSpPr>
          <p:cNvPr id="27" name="Shape 0"/>
          <p:cNvSpPr/>
          <p:nvPr/>
        </p:nvSpPr>
        <p:spPr>
          <a:xfrm>
            <a:off x="0" y="0"/>
            <a:ext cx="12191400" cy="109440"/>
          </a:xfrm>
          <a:prstGeom prst="rect">
            <a:avLst/>
          </a:prstGeom>
          <a:solidFill>
            <a:srgbClr val="FF9900"/>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28" name="Text 1"/>
          <p:cNvSpPr/>
          <p:nvPr/>
        </p:nvSpPr>
        <p:spPr>
          <a:xfrm>
            <a:off x="548640" y="384120"/>
            <a:ext cx="914364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pc="201" strike="noStrike">
                <a:solidFill>
                  <a:srgbClr val="FF9900"/>
                </a:solidFill>
                <a:effectLst/>
                <a:uFillTx/>
                <a:latin typeface="Trebuchet MS"/>
                <a:ea typeface="Trebuchet MS"/>
              </a:rPr>
              <a:t>ACTO 1  ·  CONTEXTO </a:t>
            </a:r>
            <a:r>
              <a:rPr lang="en-US" sz="1200" b="1" u="none" spc="201" strike="noStrike">
                <a:solidFill>
                  <a:srgbClr val="FF9900"/>
                </a:solidFill>
                <a:effectLst/>
                <a:uFillTx/>
                <a:latin typeface="Trebuchet MS"/>
                <a:ea typeface="Trebuchet MS"/>
              </a:rPr>
              <a:t>Y PROBLEMA</a:t>
            </a:r>
            <a:endParaRPr lang="es-CL" sz="1200" b="0" u="none" strike="noStrike">
              <a:solidFill>
                <a:srgbClr val="000000"/>
              </a:solidFill>
              <a:effectLst/>
              <a:uFillTx/>
              <a:latin typeface="Arial"/>
            </a:endParaRPr>
          </a:p>
        </p:txBody>
      </p:sp>
      <p:sp>
        <p:nvSpPr>
          <p:cNvPr id="29" name="Text 2"/>
          <p:cNvSpPr/>
          <p:nvPr/>
        </p:nvSpPr>
        <p:spPr>
          <a:xfrm>
            <a:off x="548640" y="676800"/>
            <a:ext cx="1106388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232F3E"/>
                </a:solidFill>
                <a:effectLst/>
                <a:uFillTx/>
                <a:latin typeface="Trebuchet MS"/>
                <a:ea typeface="Trebuchet MS"/>
              </a:rPr>
              <a:t>El dolor </a:t>
            </a:r>
            <a:r>
              <a:rPr lang="en-US" sz="2800" b="1" u="none" strike="noStrike">
                <a:solidFill>
                  <a:srgbClr val="232F3E"/>
                </a:solidFill>
                <a:effectLst/>
                <a:uFillTx/>
                <a:latin typeface="Trebuchet MS"/>
                <a:ea typeface="Trebuchet MS"/>
              </a:rPr>
              <a:t>real</a:t>
            </a:r>
            <a:endParaRPr lang="es-CL" sz="2800" b="0" u="none" strike="noStrike">
              <a:solidFill>
                <a:srgbClr val="000000"/>
              </a:solidFill>
              <a:effectLst/>
              <a:uFillTx/>
              <a:latin typeface="Arial"/>
            </a:endParaRPr>
          </a:p>
        </p:txBody>
      </p:sp>
      <p:sp>
        <p:nvSpPr>
          <p:cNvPr id="30" name="Shape 3"/>
          <p:cNvSpPr/>
          <p:nvPr/>
        </p:nvSpPr>
        <p:spPr>
          <a:xfrm>
            <a:off x="567000" y="1389960"/>
            <a:ext cx="1371240" cy="40680"/>
          </a:xfrm>
          <a:prstGeom prst="rect">
            <a:avLst/>
          </a:prstGeom>
          <a:solidFill>
            <a:srgbClr val="FF9900"/>
          </a:solidFill>
          <a:ln w="0">
            <a:noFill/>
          </a:ln>
        </p:spPr>
        <p:style>
          <a:lnRef idx="0"/>
          <a:fillRef idx="0"/>
          <a:effectRef idx="0"/>
          <a:fontRef idx="minor"/>
        </p:style>
        <p:txBody>
          <a:bodyPr lIns="90000" tIns="-3960" rIns="90000" bIns="-3960" anchor="t">
            <a:noAutofit/>
          </a:bodyPr>
          <a:p>
            <a:endParaRPr lang="en-US" sz="1800" b="0" u="none" strike="noStrike">
              <a:solidFill>
                <a:schemeClr val="dk1"/>
              </a:solidFill>
              <a:effectLst/>
              <a:uFillTx/>
              <a:latin typeface="Calibri"/>
            </a:endParaRPr>
          </a:p>
        </p:txBody>
      </p:sp>
      <p:sp>
        <p:nvSpPr>
          <p:cNvPr id="31" name="Shape 4"/>
          <p:cNvSpPr/>
          <p:nvPr/>
        </p:nvSpPr>
        <p:spPr>
          <a:xfrm>
            <a:off x="548640" y="1737360"/>
            <a:ext cx="6583320" cy="4297320"/>
          </a:xfrm>
          <a:prstGeom prst="roundRect">
            <a:avLst>
              <a:gd name="adj" fmla="val 1489"/>
            </a:avLst>
          </a:prstGeom>
          <a:solidFill>
            <a:srgbClr val="232F3E"/>
          </a:solidFill>
          <a:ln w="0">
            <a:noFill/>
          </a:ln>
          <a:effectLst>
            <a:outerShdw algn="bl" blurRad="88920" dir="8100000" dist="37674" rotWithShape="0">
              <a:srgbClr val="000000">
                <a:alpha val="14000"/>
              </a:srgbClr>
            </a:outerShdw>
          </a:effectLst>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pic>
        <p:nvPicPr>
          <p:cNvPr id="32" name="Image 0" descr="icon_chwp98x4itd.svg"/>
          <p:cNvPicPr/>
          <p:nvPr/>
        </p:nvPicPr>
        <p:blipFill>
          <a:blip r:embed="rId1">
            <a:extLst>
              <a:ext uri="{96DAC541-7B7A-43D3-8B79-37D633B846F1}">
                <asvg:svgBlip xmlns:asvg="http://schemas.microsoft.com/office/drawing/2016/SVG/main" r:embed="rId2"/>
              </a:ext>
            </a:extLst>
          </a:blip>
          <a:stretch/>
        </p:blipFill>
        <p:spPr>
          <a:xfrm>
            <a:off x="868680" y="2011680"/>
            <a:ext cx="502560" cy="502560"/>
          </a:xfrm>
          <a:prstGeom prst="rect">
            <a:avLst/>
          </a:prstGeom>
          <a:noFill/>
          <a:ln w="0">
            <a:noFill/>
          </a:ln>
        </p:spPr>
      </p:pic>
      <p:sp>
        <p:nvSpPr>
          <p:cNvPr id="33" name="Text 5"/>
          <p:cNvSpPr/>
          <p:nvPr/>
        </p:nvSpPr>
        <p:spPr>
          <a:xfrm>
            <a:off x="1508760" y="2030040"/>
            <a:ext cx="530316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F9900"/>
                </a:solidFill>
                <a:effectLst/>
                <a:uFillTx/>
                <a:latin typeface="Trebuchet MS"/>
                <a:ea typeface="Trebuchet MS"/>
              </a:rPr>
              <a:t>La historia de una </a:t>
            </a:r>
            <a:r>
              <a:rPr lang="en-US" sz="1600" b="1" u="none" strike="noStrike">
                <a:solidFill>
                  <a:srgbClr val="FF9900"/>
                </a:solidFill>
                <a:effectLst/>
                <a:uFillTx/>
                <a:latin typeface="Trebuchet MS"/>
                <a:ea typeface="Trebuchet MS"/>
              </a:rPr>
              <a:t>persona</a:t>
            </a:r>
            <a:endParaRPr lang="es-CL" sz="1600" b="0" u="none" strike="noStrike">
              <a:solidFill>
                <a:srgbClr val="000000"/>
              </a:solidFill>
              <a:effectLst/>
              <a:uFillTx/>
              <a:latin typeface="Arial"/>
            </a:endParaRPr>
          </a:p>
        </p:txBody>
      </p:sp>
      <p:sp>
        <p:nvSpPr>
          <p:cNvPr id="34" name="Text 6"/>
          <p:cNvSpPr/>
          <p:nvPr/>
        </p:nvSpPr>
        <p:spPr>
          <a:xfrm>
            <a:off x="868680" y="2606040"/>
            <a:ext cx="5943240" cy="1828440"/>
          </a:xfrm>
          <a:prstGeom prst="rect">
            <a:avLst/>
          </a:prstGeom>
          <a:noFill/>
          <a:ln w="0">
            <a:noFill/>
          </a:ln>
        </p:spPr>
        <p:style>
          <a:lnRef idx="0"/>
          <a:fillRef idx="0"/>
          <a:effectRef idx="0"/>
          <a:fontRef idx="minor"/>
        </p:style>
        <p:txBody>
          <a:bodyPr lIns="0" tIns="0" rIns="0" bIns="0" anchor="t">
            <a:noAutofit/>
          </a:bodyPr>
          <a:p>
            <a:pPr defTabSz="914400">
              <a:lnSpc>
                <a:spcPts val="1820"/>
              </a:lnSpc>
              <a:tabLst>
                <a:tab pos="0" algn="l"/>
              </a:tabLst>
            </a:pPr>
            <a:r>
              <a:rPr lang="es-CL" sz="1400" b="0" i="1" u="none" strike="noStrike">
                <a:solidFill>
                  <a:srgbClr val="C8D1DC"/>
                </a:solidFill>
                <a:effectLst/>
                <a:uFillTx/>
                <a:latin typeface="Calibri"/>
                <a:ea typeface="Calibri"/>
              </a:rPr>
              <a:t>El 30 de mayo de 2019, </a:t>
            </a:r>
            <a:r>
              <a:rPr lang="es-CL" sz="1400" b="0" i="1" u="none" strike="noStrike">
                <a:solidFill>
                  <a:srgbClr val="C8D1DC"/>
                </a:solidFill>
                <a:effectLst/>
                <a:uFillTx/>
                <a:latin typeface="Calibri"/>
                <a:ea typeface="Calibri"/>
              </a:rPr>
              <a:t>una profesora daba una </a:t>
            </a:r>
            <a:r>
              <a:rPr lang="es-CL" sz="1400" b="0" i="1" u="none" strike="noStrike">
                <a:solidFill>
                  <a:srgbClr val="C8D1DC"/>
                </a:solidFill>
                <a:effectLst/>
                <a:uFillTx/>
                <a:latin typeface="Calibri"/>
                <a:ea typeface="Calibri"/>
              </a:rPr>
              <a:t>clase de pintura a niños </a:t>
            </a:r>
            <a:r>
              <a:rPr lang="es-CL" sz="1400" b="0" i="1" u="none" strike="noStrike">
                <a:solidFill>
                  <a:srgbClr val="C8D1DC"/>
                </a:solidFill>
                <a:effectLst/>
                <a:uFillTx/>
                <a:latin typeface="Calibri"/>
                <a:ea typeface="Calibri"/>
              </a:rPr>
              <a:t>de 10 a 16 años en Los </a:t>
            </a:r>
            <a:r>
              <a:rPr lang="es-CL" sz="1400" b="0" i="1" u="none" strike="noStrike">
                <a:solidFill>
                  <a:srgbClr val="C8D1DC"/>
                </a:solidFill>
                <a:effectLst/>
                <a:uFillTx/>
                <a:latin typeface="Calibri"/>
                <a:ea typeface="Calibri"/>
              </a:rPr>
              <a:t>Ángeles. Cuando el viento </a:t>
            </a:r>
            <a:r>
              <a:rPr lang="es-CL" sz="1400" b="0" i="1" u="none" strike="noStrike">
                <a:solidFill>
                  <a:srgbClr val="C8D1DC"/>
                </a:solidFill>
                <a:effectLst/>
                <a:uFillTx/>
                <a:latin typeface="Calibri"/>
                <a:ea typeface="Calibri"/>
              </a:rPr>
              <a:t>golpeó la sala, los abrazó </a:t>
            </a:r>
            <a:r>
              <a:rPr lang="es-CL" sz="1400" b="0" i="1" u="none" strike="noStrike">
                <a:solidFill>
                  <a:srgbClr val="C8D1DC"/>
                </a:solidFill>
                <a:effectLst/>
                <a:uFillTx/>
                <a:latin typeface="Calibri"/>
                <a:ea typeface="Calibri"/>
              </a:rPr>
              <a:t>y le dio la espalda al </a:t>
            </a:r>
            <a:r>
              <a:rPr lang="es-CL" sz="1400" b="0" i="1" u="none" strike="noStrike">
                <a:solidFill>
                  <a:srgbClr val="C8D1DC"/>
                </a:solidFill>
                <a:effectLst/>
                <a:uFillTx/>
                <a:latin typeface="Calibri"/>
                <a:ea typeface="Calibri"/>
              </a:rPr>
              <a:t>tornado: «nos vimos con </a:t>
            </a:r>
            <a:r>
              <a:rPr lang="es-CL" sz="1400" b="0" i="1" u="none" strike="noStrike">
                <a:solidFill>
                  <a:srgbClr val="C8D1DC"/>
                </a:solidFill>
                <a:effectLst/>
                <a:uFillTx/>
                <a:latin typeface="Calibri"/>
                <a:ea typeface="Calibri"/>
              </a:rPr>
              <a:t>el techo y las paredes </a:t>
            </a:r>
            <a:r>
              <a:rPr lang="es-CL" sz="1400" b="0" i="1" u="none" strike="noStrike">
                <a:solidFill>
                  <a:srgbClr val="C8D1DC"/>
                </a:solidFill>
                <a:effectLst/>
                <a:uFillTx/>
                <a:latin typeface="Calibri"/>
                <a:ea typeface="Calibri"/>
              </a:rPr>
              <a:t>encima». Los niños </a:t>
            </a:r>
            <a:r>
              <a:rPr lang="es-CL" sz="1400" b="0" i="1" u="none" strike="noStrike">
                <a:solidFill>
                  <a:srgbClr val="C8D1DC"/>
                </a:solidFill>
                <a:effectLst/>
                <a:uFillTx/>
                <a:latin typeface="Calibri"/>
                <a:ea typeface="Calibri"/>
              </a:rPr>
              <a:t>salieron ilesos y ella, con </a:t>
            </a:r>
            <a:r>
              <a:rPr lang="es-CL" sz="1400" b="0" i="1" u="none" strike="noStrike">
                <a:solidFill>
                  <a:srgbClr val="C8D1DC"/>
                </a:solidFill>
                <a:effectLst/>
                <a:uFillTx/>
                <a:latin typeface="Calibri"/>
                <a:ea typeface="Calibri"/>
              </a:rPr>
              <a:t>una fractura en la </a:t>
            </a:r>
            <a:r>
              <a:rPr lang="es-CL" sz="1400" b="0" i="1" u="none" strike="noStrike">
                <a:solidFill>
                  <a:srgbClr val="C8D1DC"/>
                </a:solidFill>
                <a:effectLst/>
                <a:uFillTx/>
                <a:latin typeface="Calibri"/>
                <a:ea typeface="Calibri"/>
              </a:rPr>
              <a:t>columna. Nadie les avisó: </a:t>
            </a:r>
            <a:r>
              <a:rPr lang="es-CL" sz="1400" b="0" i="1" u="none" strike="noStrike">
                <a:solidFill>
                  <a:srgbClr val="C8D1DC"/>
                </a:solidFill>
                <a:effectLst/>
                <a:uFillTx/>
                <a:latin typeface="Calibri"/>
                <a:ea typeface="Calibri"/>
              </a:rPr>
              <a:t>no había con qué. (T13, </a:t>
            </a:r>
            <a:r>
              <a:rPr lang="es-CL" sz="1400" b="0" i="1" u="none" strike="noStrike">
                <a:solidFill>
                  <a:srgbClr val="C8D1DC"/>
                </a:solidFill>
                <a:effectLst/>
                <a:uFillTx/>
                <a:latin typeface="Calibri"/>
                <a:ea typeface="Calibri"/>
              </a:rPr>
              <a:t>2019)</a:t>
            </a:r>
            <a:endParaRPr lang="es-CL" sz="1400" b="0" u="none" strike="noStrike">
              <a:solidFill>
                <a:srgbClr val="000000"/>
              </a:solidFill>
              <a:effectLst/>
              <a:uFillTx/>
              <a:latin typeface="Arial"/>
            </a:endParaRPr>
          </a:p>
        </p:txBody>
      </p:sp>
      <p:sp>
        <p:nvSpPr>
          <p:cNvPr id="35" name="Shape 7"/>
          <p:cNvSpPr/>
          <p:nvPr/>
        </p:nvSpPr>
        <p:spPr>
          <a:xfrm>
            <a:off x="868680" y="4572000"/>
            <a:ext cx="5943240" cy="18000"/>
          </a:xfrm>
          <a:prstGeom prst="rect">
            <a:avLst/>
          </a:prstGeom>
          <a:solidFill>
            <a:srgbClr val="3A465A"/>
          </a:solidFill>
          <a:ln w="0">
            <a:noFill/>
          </a:ln>
        </p:spPr>
        <p:style>
          <a:lnRef idx="0"/>
          <a:fillRef idx="0"/>
          <a:effectRef idx="0"/>
          <a:fontRef idx="minor"/>
        </p:style>
        <p:txBody>
          <a:bodyPr lIns="90000" tIns="-26640" rIns="90000" bIns="-26640" anchor="t">
            <a:noAutofit/>
          </a:bodyPr>
          <a:p>
            <a:endParaRPr lang="en-US" sz="1800" b="0" u="none" strike="noStrike">
              <a:solidFill>
                <a:schemeClr val="dk1"/>
              </a:solidFill>
              <a:effectLst/>
              <a:uFillTx/>
              <a:latin typeface="Calibri"/>
            </a:endParaRPr>
          </a:p>
        </p:txBody>
      </p:sp>
      <p:sp>
        <p:nvSpPr>
          <p:cNvPr id="36" name="Text 8"/>
          <p:cNvSpPr/>
          <p:nvPr/>
        </p:nvSpPr>
        <p:spPr>
          <a:xfrm>
            <a:off x="868680" y="4663440"/>
            <a:ext cx="59432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FFFFFF"/>
                </a:solidFill>
                <a:effectLst/>
                <a:uFillTx/>
                <a:latin typeface="Trebuchet MS"/>
                <a:ea typeface="Trebuchet MS"/>
              </a:rPr>
              <a:t>El problema de fondo</a:t>
            </a:r>
            <a:endParaRPr lang="es-CL" sz="1300" b="0" u="none" strike="noStrike">
              <a:solidFill>
                <a:srgbClr val="000000"/>
              </a:solidFill>
              <a:effectLst/>
              <a:uFillTx/>
              <a:latin typeface="Arial"/>
            </a:endParaRPr>
          </a:p>
        </p:txBody>
      </p:sp>
      <p:sp>
        <p:nvSpPr>
          <p:cNvPr id="37" name="Text 9"/>
          <p:cNvSpPr/>
          <p:nvPr/>
        </p:nvSpPr>
        <p:spPr>
          <a:xfrm>
            <a:off x="868680" y="5029200"/>
            <a:ext cx="5943240" cy="914040"/>
          </a:xfrm>
          <a:prstGeom prst="rect">
            <a:avLst/>
          </a:prstGeom>
          <a:noFill/>
          <a:ln w="0">
            <a:noFill/>
          </a:ln>
        </p:spPr>
        <p:style>
          <a:lnRef idx="0"/>
          <a:fillRef idx="0"/>
          <a:effectRef idx="0"/>
          <a:fontRef idx="minor"/>
        </p:style>
        <p:txBody>
          <a:bodyPr lIns="0" tIns="0" rIns="0" bIns="0" anchor="t">
            <a:noAutofit/>
          </a:bodyPr>
          <a:p>
            <a:pPr defTabSz="914400">
              <a:lnSpc>
                <a:spcPts val="1494"/>
              </a:lnSpc>
              <a:tabLst>
                <a:tab pos="0" algn="l"/>
              </a:tabLst>
            </a:pPr>
            <a:r>
              <a:rPr lang="es-CL" sz="1150" b="0" u="none" strike="noStrike">
                <a:solidFill>
                  <a:srgbClr val="9FB0C3"/>
                </a:solidFill>
                <a:effectLst/>
                <a:uFillTx/>
                <a:latin typeface="Calibri"/>
                <a:ea typeface="Calibri"/>
              </a:rPr>
              <a:t>Para ver girar una tormenta se necesita un radar Doppler, y Chile no tiene una red. </a:t>
            </a:r>
            <a:endParaRPr lang="es-CL" sz="1150" b="0" u="none" strike="noStrike">
              <a:solidFill>
                <a:srgbClr val="000000"/>
              </a:solidFill>
              <a:effectLst/>
              <a:uFillTx/>
              <a:latin typeface="Arial"/>
            </a:endParaRPr>
          </a:p>
          <a:p>
            <a:pPr defTabSz="914400">
              <a:lnSpc>
                <a:spcPts val="1494"/>
              </a:lnSpc>
              <a:tabLst>
                <a:tab pos="0" algn="l"/>
              </a:tabLst>
            </a:pPr>
            <a:r>
              <a:rPr lang="es-CL" sz="1150" b="0" u="none" strike="noStrike">
                <a:solidFill>
                  <a:srgbClr val="9FB0C3"/>
                </a:solidFill>
                <a:effectLst/>
                <a:uFillTx/>
                <a:latin typeface="Calibri"/>
                <a:ea typeface="Calibri"/>
              </a:rPr>
              <a:t>Sin radar, un tornado existe solo si alguien lo ve y lo reporta. </a:t>
            </a:r>
            <a:endParaRPr lang="es-CL" sz="1150" b="0" u="none" strike="noStrike">
              <a:solidFill>
                <a:srgbClr val="000000"/>
              </a:solidFill>
              <a:effectLst/>
              <a:uFillTx/>
              <a:latin typeface="Arial"/>
            </a:endParaRPr>
          </a:p>
          <a:p>
            <a:pPr defTabSz="914400">
              <a:lnSpc>
                <a:spcPts val="1494"/>
              </a:lnSpc>
              <a:tabLst>
                <a:tab pos="0" algn="l"/>
              </a:tabLst>
            </a:pPr>
            <a:r>
              <a:rPr lang="es-CL" sz="1150" b="0" u="none" strike="noStrike">
                <a:solidFill>
                  <a:srgbClr val="9FB0C3"/>
                </a:solidFill>
                <a:effectLst/>
                <a:uFillTx/>
                <a:latin typeface="Calibri"/>
                <a:ea typeface="Calibri"/>
              </a:rPr>
              <a:t>Además, los modelos de EE.UU. fallan aquí: nuestras tormentas tienen poca energía, </a:t>
            </a:r>
            <a:r>
              <a:rPr lang="es-CL" sz="1150" b="0" u="none" strike="noStrike">
                <a:solidFill>
                  <a:srgbClr val="9FB0C3"/>
                </a:solidFill>
                <a:effectLst/>
                <a:uFillTx/>
                <a:latin typeface="Calibri"/>
                <a:ea typeface="Calibri"/>
              </a:rPr>
              <a:t>mucho viento en altura y giran al revés.</a:t>
            </a:r>
            <a:endParaRPr lang="es-CL" sz="1150" b="0" u="none" strike="noStrike">
              <a:solidFill>
                <a:srgbClr val="000000"/>
              </a:solidFill>
              <a:effectLst/>
              <a:uFillTx/>
              <a:latin typeface="Arial"/>
            </a:endParaRPr>
          </a:p>
        </p:txBody>
      </p:sp>
      <p:sp>
        <p:nvSpPr>
          <p:cNvPr id="38" name="Text 10"/>
          <p:cNvSpPr/>
          <p:nvPr/>
        </p:nvSpPr>
        <p:spPr>
          <a:xfrm>
            <a:off x="7406640" y="1783080"/>
            <a:ext cx="420588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232F3E"/>
                </a:solidFill>
                <a:effectLst/>
                <a:uFillTx/>
                <a:latin typeface="Trebuchet MS"/>
                <a:ea typeface="Trebuchet MS"/>
              </a:rPr>
              <a:t>Dimensiona el problema</a:t>
            </a:r>
            <a:endParaRPr lang="es-CL" sz="1500" b="0" u="none" strike="noStrike">
              <a:solidFill>
                <a:srgbClr val="000000"/>
              </a:solidFill>
              <a:effectLst/>
              <a:uFillTx/>
              <a:latin typeface="Arial"/>
            </a:endParaRPr>
          </a:p>
        </p:txBody>
      </p:sp>
      <p:sp>
        <p:nvSpPr>
          <p:cNvPr id="39" name="Shape 11"/>
          <p:cNvSpPr/>
          <p:nvPr/>
        </p:nvSpPr>
        <p:spPr>
          <a:xfrm>
            <a:off x="7406640" y="2240280"/>
            <a:ext cx="4251600" cy="776880"/>
          </a:xfrm>
          <a:prstGeom prst="roundRect">
            <a:avLst>
              <a:gd name="adj" fmla="val 5882"/>
            </a:avLst>
          </a:prstGeom>
          <a:solidFill>
            <a:srgbClr val="FFFFFF"/>
          </a:solidFill>
          <a:ln w="12700">
            <a:solidFill>
              <a:srgbClr val="E3E8E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pic>
        <p:nvPicPr>
          <p:cNvPr id="40" name="Image 1" descr="icon_o8irsi1p1c.svg"/>
          <p:cNvPicPr/>
          <p:nvPr/>
        </p:nvPicPr>
        <p:blipFill>
          <a:blip r:embed="rId3">
            <a:extLst>
              <a:ext uri="{96DAC541-7B7A-43D3-8B79-37D633B846F1}">
                <asvg:svgBlip xmlns:asvg="http://schemas.microsoft.com/office/drawing/2016/SVG/main" r:embed="rId4"/>
              </a:ext>
            </a:extLst>
          </a:blip>
          <a:stretch/>
        </p:blipFill>
        <p:spPr>
          <a:xfrm>
            <a:off x="7571160" y="2477880"/>
            <a:ext cx="310680" cy="310680"/>
          </a:xfrm>
          <a:prstGeom prst="rect">
            <a:avLst/>
          </a:prstGeom>
          <a:noFill/>
          <a:ln w="0">
            <a:noFill/>
          </a:ln>
        </p:spPr>
      </p:pic>
      <p:sp>
        <p:nvSpPr>
          <p:cNvPr id="41" name="Text 12"/>
          <p:cNvSpPr/>
          <p:nvPr/>
        </p:nvSpPr>
        <p:spPr>
          <a:xfrm>
            <a:off x="8001000" y="2240280"/>
            <a:ext cx="352008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s-CL" sz="1100" b="0" u="none" strike="noStrike">
                <a:solidFill>
                  <a:srgbClr val="16191F"/>
                </a:solidFill>
                <a:effectLst/>
                <a:uFillTx/>
                <a:latin typeface="Calibri"/>
                <a:ea typeface="Calibri"/>
              </a:rPr>
              <a:t>7 tornados en 24 horas (30 y 31 de mayo de 2019): 1 fallecido, 24 heridos y 546 viviendas afectadas en el Biobío (Emol, 2019).</a:t>
            </a:r>
            <a:endParaRPr lang="es-CL" sz="1100" b="0" u="none" strike="noStrike">
              <a:solidFill>
                <a:srgbClr val="000000"/>
              </a:solidFill>
              <a:effectLst/>
              <a:uFillTx/>
              <a:latin typeface="Arial"/>
            </a:endParaRPr>
          </a:p>
        </p:txBody>
      </p:sp>
      <p:sp>
        <p:nvSpPr>
          <p:cNvPr id="42" name="Shape 13"/>
          <p:cNvSpPr/>
          <p:nvPr/>
        </p:nvSpPr>
        <p:spPr>
          <a:xfrm>
            <a:off x="7406640" y="3154680"/>
            <a:ext cx="4251600" cy="776880"/>
          </a:xfrm>
          <a:prstGeom prst="roundRect">
            <a:avLst>
              <a:gd name="adj" fmla="val 5882"/>
            </a:avLst>
          </a:prstGeom>
          <a:solidFill>
            <a:srgbClr val="FFFFFF"/>
          </a:solidFill>
          <a:ln w="12700">
            <a:solidFill>
              <a:srgbClr val="E3E8E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pic>
        <p:nvPicPr>
          <p:cNvPr id="43" name="Image 2" descr="icon_ajam5hxbdfg.svg"/>
          <p:cNvPicPr/>
          <p:nvPr/>
        </p:nvPicPr>
        <p:blipFill>
          <a:blip r:embed="rId5">
            <a:extLst>
              <a:ext uri="{96DAC541-7B7A-43D3-8B79-37D633B846F1}">
                <asvg:svgBlip xmlns:asvg="http://schemas.microsoft.com/office/drawing/2016/SVG/main" r:embed="rId6"/>
              </a:ext>
            </a:extLst>
          </a:blip>
          <a:stretch/>
        </p:blipFill>
        <p:spPr>
          <a:xfrm>
            <a:off x="7571160" y="3392280"/>
            <a:ext cx="310680" cy="310680"/>
          </a:xfrm>
          <a:prstGeom prst="rect">
            <a:avLst/>
          </a:prstGeom>
          <a:noFill/>
          <a:ln w="0">
            <a:noFill/>
          </a:ln>
        </p:spPr>
      </p:pic>
      <p:sp>
        <p:nvSpPr>
          <p:cNvPr id="44" name="Text 14"/>
          <p:cNvSpPr/>
          <p:nvPr/>
        </p:nvSpPr>
        <p:spPr>
          <a:xfrm>
            <a:off x="8001000" y="3154680"/>
            <a:ext cx="352008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s-CL" sz="1100" b="0" u="none" strike="noStrike">
                <a:solidFill>
                  <a:srgbClr val="16191F"/>
                </a:solidFill>
                <a:effectLst/>
                <a:uFillTx/>
                <a:latin typeface="Calibri"/>
                <a:ea typeface="Calibri"/>
              </a:rPr>
              <a:t>102 tornados y trombas catalogados entre 1554 y 2025; 68 son de 2015 en adelante</a:t>
            </a:r>
            <a:endParaRPr lang="es-CL" sz="1100" b="0" u="none" strike="noStrike">
              <a:solidFill>
                <a:srgbClr val="000000"/>
              </a:solidFill>
              <a:effectLst/>
              <a:uFillTx/>
              <a:latin typeface="Arial"/>
            </a:endParaRPr>
          </a:p>
          <a:p>
            <a:pPr defTabSz="914400">
              <a:lnSpc>
                <a:spcPct val="100000"/>
              </a:lnSpc>
              <a:tabLst>
                <a:tab pos="0" algn="l"/>
              </a:tabLst>
            </a:pPr>
            <a:r>
              <a:rPr lang="es-CL" sz="1100" b="0" u="none" strike="noStrike">
                <a:solidFill>
                  <a:srgbClr val="16191F"/>
                </a:solidFill>
                <a:effectLst/>
                <a:uFillTx/>
                <a:latin typeface="Calibri"/>
                <a:ea typeface="Calibri"/>
              </a:rPr>
              <a:t>(Bastías-Curivil et al., figshare).</a:t>
            </a:r>
            <a:endParaRPr lang="es-CL" sz="1100" b="0" u="none" strike="noStrike">
              <a:solidFill>
                <a:srgbClr val="000000"/>
              </a:solidFill>
              <a:effectLst/>
              <a:uFillTx/>
              <a:latin typeface="Arial"/>
            </a:endParaRPr>
          </a:p>
        </p:txBody>
      </p:sp>
      <p:sp>
        <p:nvSpPr>
          <p:cNvPr id="45" name="Shape 15"/>
          <p:cNvSpPr/>
          <p:nvPr/>
        </p:nvSpPr>
        <p:spPr>
          <a:xfrm>
            <a:off x="7406640" y="4069080"/>
            <a:ext cx="4251600" cy="776880"/>
          </a:xfrm>
          <a:prstGeom prst="roundRect">
            <a:avLst>
              <a:gd name="adj" fmla="val 5882"/>
            </a:avLst>
          </a:prstGeom>
          <a:solidFill>
            <a:srgbClr val="FFFFFF"/>
          </a:solidFill>
          <a:ln w="12700">
            <a:solidFill>
              <a:srgbClr val="E3E8EE"/>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pic>
        <p:nvPicPr>
          <p:cNvPr id="46" name="Image 3" descr="icon_nui2dk8zgi.svg"/>
          <p:cNvPicPr/>
          <p:nvPr/>
        </p:nvPicPr>
        <p:blipFill>
          <a:blip r:embed="rId7">
            <a:extLst>
              <a:ext uri="{96DAC541-7B7A-43D3-8B79-37D633B846F1}">
                <asvg:svgBlip xmlns:asvg="http://schemas.microsoft.com/office/drawing/2016/SVG/main" r:embed="rId8"/>
              </a:ext>
            </a:extLst>
          </a:blip>
          <a:stretch/>
        </p:blipFill>
        <p:spPr>
          <a:xfrm>
            <a:off x="7571160" y="4306680"/>
            <a:ext cx="310680" cy="310680"/>
          </a:xfrm>
          <a:prstGeom prst="rect">
            <a:avLst/>
          </a:prstGeom>
          <a:noFill/>
          <a:ln w="0">
            <a:noFill/>
          </a:ln>
        </p:spPr>
      </p:pic>
      <p:sp>
        <p:nvSpPr>
          <p:cNvPr id="47" name="Text 16"/>
          <p:cNvSpPr/>
          <p:nvPr/>
        </p:nvSpPr>
        <p:spPr>
          <a:xfrm>
            <a:off x="8001000" y="4069080"/>
            <a:ext cx="352008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s-CL" sz="1100" b="0" u="none" strike="noStrike">
                <a:solidFill>
                  <a:srgbClr val="16191F"/>
                </a:solidFill>
                <a:effectLst/>
                <a:uFillTx/>
                <a:latin typeface="Calibri"/>
                <a:ea typeface="Calibri"/>
              </a:rPr>
              <a:t>Los reportes se concentran entre 36° y 42°S, en el campo y en ciudades del sur. Al sur de 42,4°S no hay ninguno, probablemente por falta de testigos.</a:t>
            </a:r>
            <a:endParaRPr lang="es-CL" sz="1100" b="0" u="none" strike="noStrike">
              <a:solidFill>
                <a:srgbClr val="000000"/>
              </a:solidFill>
              <a:effectLst/>
              <a:uFillTx/>
              <a:latin typeface="Arial"/>
            </a:endParaRPr>
          </a:p>
        </p:txBody>
      </p:sp>
      <p:sp>
        <p:nvSpPr>
          <p:cNvPr id="48" name="Shape 17"/>
          <p:cNvSpPr/>
          <p:nvPr/>
        </p:nvSpPr>
        <p:spPr>
          <a:xfrm>
            <a:off x="7406640" y="5029200"/>
            <a:ext cx="4251600" cy="914040"/>
          </a:xfrm>
          <a:prstGeom prst="roundRect">
            <a:avLst>
              <a:gd name="adj" fmla="val 5000"/>
            </a:avLst>
          </a:prstGeom>
          <a:solidFill>
            <a:srgbClr val="FDECEA"/>
          </a:solidFill>
          <a:ln w="12700">
            <a:solidFill>
              <a:srgbClr val="D13212"/>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49" name="Text 18"/>
          <p:cNvSpPr/>
          <p:nvPr/>
        </p:nvSpPr>
        <p:spPr>
          <a:xfrm>
            <a:off x="7589520" y="5029200"/>
            <a:ext cx="3931560" cy="914040"/>
          </a:xfrm>
          <a:prstGeom prst="rect">
            <a:avLst/>
          </a:prstGeom>
          <a:noFill/>
          <a:ln w="0">
            <a:noFill/>
          </a:ln>
        </p:spPr>
        <p:style>
          <a:lnRef idx="0"/>
          <a:fillRef idx="0"/>
          <a:effectRef idx="0"/>
          <a:fontRef idx="minor"/>
        </p:style>
        <p:txBody>
          <a:bodyPr lIns="0" tIns="0" rIns="0" bIns="0" anchor="ctr">
            <a:noAutofit/>
          </a:bodyPr>
          <a:p>
            <a:pPr defTabSz="914400">
              <a:lnSpc>
                <a:spcPts val="1400"/>
              </a:lnSpc>
              <a:tabLst>
                <a:tab pos="0" algn="l"/>
              </a:tabLst>
            </a:pPr>
            <a:r>
              <a:rPr lang="es-CL" sz="1100" b="1" u="none" strike="noStrike">
                <a:solidFill>
                  <a:srgbClr val="D13212"/>
                </a:solidFill>
                <a:effectLst/>
                <a:uFillTx/>
                <a:latin typeface="Calibri"/>
                <a:ea typeface="Calibri"/>
              </a:rPr>
              <a:t>Qué pasa si no se resuelve:  </a:t>
            </a:r>
            <a:r>
              <a:rPr lang="es-CL" sz="1100" b="0" u="none" strike="noStrike">
                <a:solidFill>
                  <a:srgbClr val="7A2318"/>
                </a:solidFill>
                <a:effectLst/>
                <a:uFillTx/>
                <a:latin typeface="Calibri"/>
                <a:ea typeface="Calibri"/>
              </a:rPr>
              <a:t>el próximo brote llega como el de 2019, sin aviso y sin datos para entender después qué pasó.</a:t>
            </a:r>
            <a:endParaRPr lang="es-CL" sz="1100" b="0" u="none" strike="noStrike">
              <a:solidFill>
                <a:srgbClr val="000000"/>
              </a:solidFill>
              <a:effectLst/>
              <a:uFillTx/>
              <a:latin typeface="Arial"/>
            </a:endParaRPr>
          </a:p>
        </p:txBody>
      </p:sp>
      <p:sp>
        <p:nvSpPr>
          <p:cNvPr id="50" name="Text 19"/>
          <p:cNvSpPr/>
          <p:nvPr/>
        </p:nvSpPr>
        <p:spPr>
          <a:xfrm>
            <a:off x="548640" y="6437520"/>
            <a:ext cx="8229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s-CL" sz="900" b="1" u="none" strike="noStrike">
                <a:solidFill>
                  <a:srgbClr val="5A6472"/>
                </a:solidFill>
                <a:effectLst/>
                <a:uFillTx/>
                <a:latin typeface="Calibri"/>
                <a:ea typeface="Calibri"/>
              </a:rPr>
              <a:t>AWS Breaking Barriers Chile 2026</a:t>
            </a:r>
            <a:r>
              <a:rPr lang="es-CL" sz="900" b="0" u="none" strike="noStrike">
                <a:solidFill>
                  <a:srgbClr val="5A6472"/>
                </a:solidFill>
                <a:effectLst/>
                <a:uFillTx/>
                <a:latin typeface="Calibri"/>
                <a:ea typeface="Calibri"/>
              </a:rPr>
              <a:t>   |   Desafío CR2 · Universidad de Chile</a:t>
            </a:r>
            <a:endParaRPr lang="es-CL" sz="900" b="0" u="none" strike="noStrike">
              <a:solidFill>
                <a:srgbClr val="000000"/>
              </a:solidFill>
              <a:effectLst/>
              <a:uFillTx/>
              <a:latin typeface="Arial"/>
            </a:endParaRPr>
          </a:p>
        </p:txBody>
      </p:sp>
      <p:sp>
        <p:nvSpPr>
          <p:cNvPr id="51" name="Text 20"/>
          <p:cNvSpPr/>
          <p:nvPr/>
        </p:nvSpPr>
        <p:spPr>
          <a:xfrm>
            <a:off x="11338560" y="6437520"/>
            <a:ext cx="36540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s-CL" sz="900" b="0" u="none" strike="noStrike">
                <a:solidFill>
                  <a:srgbClr val="5A6472"/>
                </a:solidFill>
                <a:effectLst/>
                <a:uFillTx/>
                <a:latin typeface="Calibri"/>
                <a:ea typeface="Calibri"/>
              </a:rPr>
              <a:t>2</a:t>
            </a:r>
            <a:endParaRPr lang="es-CL"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8"/>
        </a:solidFill>
      </p:bgPr>
    </p:bg>
    <p:spTree>
      <p:nvGrpSpPr>
        <p:cNvPr id="1" name=""/>
        <p:cNvGrpSpPr/>
        <p:nvPr/>
      </p:nvGrpSpPr>
      <p:grpSpPr>
        <a:xfrm>
          <a:off x="0" y="0"/>
          <a:ext cx="0" cy="0"/>
          <a:chOff x="0" y="0"/>
          <a:chExt cx="0" cy="0"/>
        </a:xfrm>
      </p:grpSpPr>
      <p:sp>
        <p:nvSpPr>
          <p:cNvPr id="52" name="Shape 0"/>
          <p:cNvSpPr/>
          <p:nvPr/>
        </p:nvSpPr>
        <p:spPr>
          <a:xfrm>
            <a:off x="0" y="0"/>
            <a:ext cx="12191400" cy="109440"/>
          </a:xfrm>
          <a:prstGeom prst="rect">
            <a:avLst/>
          </a:prstGeom>
          <a:solidFill>
            <a:srgbClr val="FF9900"/>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53" name="Text 1"/>
          <p:cNvSpPr/>
          <p:nvPr/>
        </p:nvSpPr>
        <p:spPr>
          <a:xfrm>
            <a:off x="548640" y="384120"/>
            <a:ext cx="914364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s-CL" sz="1200" b="1" u="none" spc="201" strike="noStrike">
                <a:solidFill>
                  <a:srgbClr val="FF9900"/>
                </a:solidFill>
                <a:effectLst/>
                <a:uFillTx/>
                <a:latin typeface="Trebuchet MS"/>
                <a:ea typeface="Trebuchet MS"/>
              </a:rPr>
              <a:t>PRESENTACIÓN DE LA INSTITUCIÓN</a:t>
            </a:r>
            <a:endParaRPr lang="es-CL" sz="1200" b="0" u="none" strike="noStrike">
              <a:solidFill>
                <a:srgbClr val="000000"/>
              </a:solidFill>
              <a:effectLst/>
              <a:uFillTx/>
              <a:latin typeface="Arial"/>
            </a:endParaRPr>
          </a:p>
        </p:txBody>
      </p:sp>
      <p:sp>
        <p:nvSpPr>
          <p:cNvPr id="54" name="Text 2"/>
          <p:cNvSpPr/>
          <p:nvPr/>
        </p:nvSpPr>
        <p:spPr>
          <a:xfrm>
            <a:off x="548640" y="676800"/>
            <a:ext cx="1106388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s-CL" sz="2800" b="1" u="none" strike="noStrike">
                <a:solidFill>
                  <a:srgbClr val="232F3E"/>
                </a:solidFill>
                <a:effectLst/>
                <a:uFillTx/>
                <a:latin typeface="Trebuchet MS"/>
                <a:ea typeface="Trebuchet MS"/>
              </a:rPr>
              <a:t>Quiénes somos</a:t>
            </a:r>
            <a:endParaRPr lang="es-CL" sz="2800" b="0" u="none" strike="noStrike">
              <a:solidFill>
                <a:srgbClr val="000000"/>
              </a:solidFill>
              <a:effectLst/>
              <a:uFillTx/>
              <a:latin typeface="Arial"/>
            </a:endParaRPr>
          </a:p>
        </p:txBody>
      </p:sp>
      <p:sp>
        <p:nvSpPr>
          <p:cNvPr id="55" name="Shape 3"/>
          <p:cNvSpPr/>
          <p:nvPr/>
        </p:nvSpPr>
        <p:spPr>
          <a:xfrm>
            <a:off x="567000" y="1389960"/>
            <a:ext cx="1371240" cy="40680"/>
          </a:xfrm>
          <a:prstGeom prst="rect">
            <a:avLst/>
          </a:prstGeom>
          <a:solidFill>
            <a:srgbClr val="FF9900"/>
          </a:solidFill>
          <a:ln w="0">
            <a:noFill/>
          </a:ln>
        </p:spPr>
        <p:style>
          <a:lnRef idx="0"/>
          <a:fillRef idx="0"/>
          <a:effectRef idx="0"/>
          <a:fontRef idx="minor"/>
        </p:style>
        <p:txBody>
          <a:bodyPr lIns="90000" tIns="-3960" rIns="90000" bIns="-3960" anchor="t">
            <a:noAutofit/>
          </a:bodyPr>
          <a:p>
            <a:endParaRPr lang="en-US" sz="1800" b="0" u="none" strike="noStrike">
              <a:solidFill>
                <a:schemeClr val="dk1"/>
              </a:solidFill>
              <a:effectLst/>
              <a:uFillTx/>
              <a:latin typeface="Calibri"/>
            </a:endParaRPr>
          </a:p>
        </p:txBody>
      </p:sp>
      <p:sp>
        <p:nvSpPr>
          <p:cNvPr id="56" name="Text 4"/>
          <p:cNvSpPr/>
          <p:nvPr/>
        </p:nvSpPr>
        <p:spPr>
          <a:xfrm>
            <a:off x="548640" y="1783080"/>
            <a:ext cx="585180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s-CL" sz="1500" b="1" u="none" strike="noStrike">
                <a:solidFill>
                  <a:srgbClr val="232F3E"/>
                </a:solidFill>
                <a:effectLst/>
                <a:uFillTx/>
                <a:latin typeface="Trebuchet MS"/>
                <a:ea typeface="Trebuchet MS"/>
              </a:rPr>
              <a:t>Nuestra misión</a:t>
            </a:r>
            <a:endParaRPr lang="es-CL" sz="1500" b="0" u="none" strike="noStrike">
              <a:solidFill>
                <a:srgbClr val="000000"/>
              </a:solidFill>
              <a:effectLst/>
              <a:uFillTx/>
              <a:latin typeface="Arial"/>
            </a:endParaRPr>
          </a:p>
        </p:txBody>
      </p:sp>
      <p:sp>
        <p:nvSpPr>
          <p:cNvPr id="57" name="Text 5"/>
          <p:cNvSpPr/>
          <p:nvPr/>
        </p:nvSpPr>
        <p:spPr>
          <a:xfrm>
            <a:off x="548640" y="2194560"/>
            <a:ext cx="5851800" cy="1462680"/>
          </a:xfrm>
          <a:prstGeom prst="rect">
            <a:avLst/>
          </a:prstGeom>
          <a:noFill/>
          <a:ln w="0">
            <a:noFill/>
          </a:ln>
        </p:spPr>
        <p:style>
          <a:lnRef idx="0"/>
          <a:fillRef idx="0"/>
          <a:effectRef idx="0"/>
          <a:fontRef idx="minor"/>
        </p:style>
        <p:txBody>
          <a:bodyPr lIns="0" tIns="0" rIns="0" bIns="0" anchor="t">
            <a:noAutofit/>
          </a:bodyPr>
          <a:p>
            <a:pPr defTabSz="914400">
              <a:lnSpc>
                <a:spcPts val="1624"/>
              </a:lnSpc>
              <a:tabLst>
                <a:tab pos="0" algn="l"/>
              </a:tabLst>
            </a:pPr>
            <a:r>
              <a:rPr lang="es-CL" sz="1300" b="0" u="none" strike="noStrike">
                <a:solidFill>
                  <a:srgbClr val="8893A0"/>
                </a:solidFill>
                <a:effectLst/>
                <a:uFillTx/>
                <a:latin typeface="Calibri"/>
                <a:ea typeface="Calibri"/>
              </a:rPr>
              <a:t>El Centro de Ciencia del Clima y la Resiliencia (CR2) investiga el clima de Chile y cómo afecta a la sociedad, para que el país se pueda preparar mejor frente al riesgo climático. </a:t>
            </a:r>
            <a:endParaRPr lang="es-CL" sz="1300" b="0" u="none" strike="noStrike">
              <a:solidFill>
                <a:srgbClr val="000000"/>
              </a:solidFill>
              <a:effectLst/>
              <a:uFillTx/>
              <a:latin typeface="Arial"/>
            </a:endParaRPr>
          </a:p>
          <a:p>
            <a:pPr defTabSz="914400">
              <a:lnSpc>
                <a:spcPts val="1624"/>
              </a:lnSpc>
              <a:tabLst>
                <a:tab pos="0" algn="l"/>
              </a:tabLst>
            </a:pPr>
            <a:endParaRPr lang="es-CL" sz="1300" b="0" u="none" strike="noStrike">
              <a:solidFill>
                <a:srgbClr val="000000"/>
              </a:solidFill>
              <a:effectLst/>
              <a:uFillTx/>
              <a:latin typeface="Arial"/>
            </a:endParaRPr>
          </a:p>
          <a:p>
            <a:pPr defTabSz="914400">
              <a:lnSpc>
                <a:spcPts val="1624"/>
              </a:lnSpc>
              <a:tabLst>
                <a:tab pos="0" algn="l"/>
              </a:tabLst>
            </a:pPr>
            <a:r>
              <a:rPr lang="es-CL" sz="1300" b="0" u="none" strike="noStrike">
                <a:solidFill>
                  <a:srgbClr val="8893A0"/>
                </a:solidFill>
                <a:effectLst/>
                <a:uFillTx/>
                <a:latin typeface="Calibri"/>
                <a:ea typeface="Calibri"/>
              </a:rPr>
              <a:t>Tiene sede en la Universidad de Chile y participan la U. de Concepción y la U. Austral.</a:t>
            </a:r>
            <a:endParaRPr lang="es-CL" sz="1300" b="0" u="none" strike="noStrike">
              <a:solidFill>
                <a:srgbClr val="000000"/>
              </a:solidFill>
              <a:effectLst/>
              <a:uFillTx/>
              <a:latin typeface="Arial"/>
            </a:endParaRPr>
          </a:p>
        </p:txBody>
      </p:sp>
      <p:sp>
        <p:nvSpPr>
          <p:cNvPr id="58" name="Text 6"/>
          <p:cNvSpPr/>
          <p:nvPr/>
        </p:nvSpPr>
        <p:spPr>
          <a:xfrm>
            <a:off x="548640" y="3794760"/>
            <a:ext cx="585180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s-CL" sz="1500" b="1" u="none" strike="noStrike">
                <a:solidFill>
                  <a:srgbClr val="232F3E"/>
                </a:solidFill>
                <a:effectLst/>
                <a:uFillTx/>
                <a:latin typeface="Trebuchet MS"/>
                <a:ea typeface="Trebuchet MS"/>
              </a:rPr>
              <a:t>Por qué nos importa este desafío</a:t>
            </a:r>
            <a:endParaRPr lang="es-CL" sz="1500" b="0" u="none" strike="noStrike">
              <a:solidFill>
                <a:srgbClr val="000000"/>
              </a:solidFill>
              <a:effectLst/>
              <a:uFillTx/>
              <a:latin typeface="Arial"/>
            </a:endParaRPr>
          </a:p>
        </p:txBody>
      </p:sp>
      <p:sp>
        <p:nvSpPr>
          <p:cNvPr id="59" name="Text 7"/>
          <p:cNvSpPr/>
          <p:nvPr/>
        </p:nvSpPr>
        <p:spPr>
          <a:xfrm>
            <a:off x="548640" y="4206240"/>
            <a:ext cx="5851800" cy="1371240"/>
          </a:xfrm>
          <a:prstGeom prst="rect">
            <a:avLst/>
          </a:prstGeom>
          <a:noFill/>
          <a:ln w="0">
            <a:noFill/>
          </a:ln>
        </p:spPr>
        <p:style>
          <a:lnRef idx="0"/>
          <a:fillRef idx="0"/>
          <a:effectRef idx="0"/>
          <a:fontRef idx="minor"/>
        </p:style>
        <p:txBody>
          <a:bodyPr lIns="0" tIns="0" rIns="0" bIns="0" anchor="t">
            <a:noAutofit/>
          </a:bodyPr>
          <a:p>
            <a:pPr defTabSz="914400">
              <a:lnSpc>
                <a:spcPts val="1624"/>
              </a:lnSpc>
              <a:tabLst>
                <a:tab pos="0" algn="l"/>
              </a:tabLst>
            </a:pPr>
            <a:r>
              <a:rPr lang="es-CL" sz="1300" b="0" u="none" strike="noStrike">
                <a:solidFill>
                  <a:srgbClr val="8893A0"/>
                </a:solidFill>
                <a:effectLst/>
                <a:uFillTx/>
                <a:latin typeface="Calibri"/>
                <a:ea typeface="Calibri"/>
              </a:rPr>
              <a:t>Desde el brote de 2019 estudiamos los tornados en Chile (Vicencio et al., 2021; Marín et al., 2024) y mantenemos una base de eventos al día. Sin embargo, nuestro catálogo depende de que alguien vea el tornado y lo reporte. </a:t>
            </a:r>
            <a:endParaRPr lang="es-CL" sz="1300" b="0" u="none" strike="noStrike">
              <a:solidFill>
                <a:srgbClr val="000000"/>
              </a:solidFill>
              <a:effectLst/>
              <a:uFillTx/>
              <a:latin typeface="Arial"/>
            </a:endParaRPr>
          </a:p>
          <a:p>
            <a:pPr defTabSz="914400">
              <a:lnSpc>
                <a:spcPts val="1624"/>
              </a:lnSpc>
              <a:tabLst>
                <a:tab pos="0" algn="l"/>
              </a:tabLst>
            </a:pPr>
            <a:endParaRPr lang="es-CL" sz="1300" b="0" u="none" strike="noStrike">
              <a:solidFill>
                <a:srgbClr val="000000"/>
              </a:solidFill>
              <a:effectLst/>
              <a:uFillTx/>
              <a:latin typeface="Arial"/>
            </a:endParaRPr>
          </a:p>
          <a:p>
            <a:pPr defTabSz="914400">
              <a:lnSpc>
                <a:spcPts val="1624"/>
              </a:lnSpc>
              <a:tabLst>
                <a:tab pos="0" algn="l"/>
              </a:tabLst>
            </a:pPr>
            <a:r>
              <a:rPr lang="es-CL" sz="1300" b="0" u="none" strike="noStrike">
                <a:solidFill>
                  <a:srgbClr val="8893A0"/>
                </a:solidFill>
                <a:effectLst/>
                <a:uFillTx/>
                <a:latin typeface="Calibri"/>
                <a:ea typeface="Calibri"/>
              </a:rPr>
              <a:t>Un modelo que revise con ERA5 y GOES todas las tormentas del centro-sur nos ayudaría a encontrar los eventos que nadie registró. </a:t>
            </a:r>
            <a:endParaRPr lang="es-CL" sz="1300" b="0" u="none" strike="noStrike">
              <a:solidFill>
                <a:srgbClr val="000000"/>
              </a:solidFill>
              <a:effectLst/>
              <a:uFillTx/>
              <a:latin typeface="Arial"/>
            </a:endParaRPr>
          </a:p>
          <a:p>
            <a:pPr defTabSz="914400">
              <a:lnSpc>
                <a:spcPts val="1624"/>
              </a:lnSpc>
              <a:tabLst>
                <a:tab pos="0" algn="l"/>
              </a:tabLst>
            </a:pPr>
            <a:endParaRPr lang="es-CL" sz="1300" b="0" u="none" strike="noStrike">
              <a:solidFill>
                <a:srgbClr val="000000"/>
              </a:solidFill>
              <a:effectLst/>
              <a:uFillTx/>
              <a:latin typeface="Arial"/>
            </a:endParaRPr>
          </a:p>
          <a:p>
            <a:pPr defTabSz="914400">
              <a:lnSpc>
                <a:spcPts val="1624"/>
              </a:lnSpc>
              <a:tabLst>
                <a:tab pos="0" algn="l"/>
              </a:tabLst>
            </a:pPr>
            <a:r>
              <a:rPr lang="es-CL" sz="1300" b="0" u="none" strike="noStrike">
                <a:solidFill>
                  <a:srgbClr val="8893A0"/>
                </a:solidFill>
                <a:effectLst/>
                <a:uFillTx/>
                <a:latin typeface="Calibri"/>
                <a:ea typeface="Calibri"/>
              </a:rPr>
              <a:t>Si después se aplica a pronósticos, podría anticipar en qué zonas y en qué días conviene estar alerta.</a:t>
            </a:r>
            <a:endParaRPr lang="es-CL" sz="1300" b="0" u="none" strike="noStrike">
              <a:solidFill>
                <a:srgbClr val="000000"/>
              </a:solidFill>
              <a:effectLst/>
              <a:uFillTx/>
              <a:latin typeface="Arial"/>
            </a:endParaRPr>
          </a:p>
        </p:txBody>
      </p:sp>
      <p:sp>
        <p:nvSpPr>
          <p:cNvPr id="60" name="Shape 8"/>
          <p:cNvSpPr/>
          <p:nvPr/>
        </p:nvSpPr>
        <p:spPr>
          <a:xfrm>
            <a:off x="6629400" y="1783080"/>
            <a:ext cx="2605680" cy="2057040"/>
          </a:xfrm>
          <a:prstGeom prst="roundRect">
            <a:avLst>
              <a:gd name="adj" fmla="val 2667"/>
            </a:avLst>
          </a:prstGeom>
          <a:solidFill>
            <a:srgbClr val="FFFFFF"/>
          </a:solidFill>
          <a:ln w="12700">
            <a:solidFill>
              <a:srgbClr val="E3E8EE"/>
            </a:solidFill>
            <a:round/>
          </a:ln>
          <a:effectLst>
            <a:outerShdw algn="bl" blurRad="88920" dir="8100000" dist="37674" rotWithShape="0">
              <a:srgbClr val="000000">
                <a:alpha val="14000"/>
              </a:srgbClr>
            </a:outerShdw>
          </a:effectLst>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1" name="Shape 9"/>
          <p:cNvSpPr/>
          <p:nvPr/>
        </p:nvSpPr>
        <p:spPr>
          <a:xfrm>
            <a:off x="6629400" y="1783080"/>
            <a:ext cx="91080" cy="2057040"/>
          </a:xfrm>
          <a:prstGeom prst="rect">
            <a:avLst/>
          </a:prstGeom>
          <a:solidFill>
            <a:srgbClr val="FF9900"/>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pic>
        <p:nvPicPr>
          <p:cNvPr id="62" name="Image 0" descr="icon_a09wp07hgb9.svg"/>
          <p:cNvPicPr/>
          <p:nvPr/>
        </p:nvPicPr>
        <p:blipFill>
          <a:blip r:embed="rId1">
            <a:extLst>
              <a:ext uri="{96DAC541-7B7A-43D3-8B79-37D633B846F1}">
                <asvg:svgBlip xmlns:asvg="http://schemas.microsoft.com/office/drawing/2016/SVG/main" r:embed="rId2"/>
              </a:ext>
            </a:extLst>
          </a:blip>
          <a:stretch/>
        </p:blipFill>
        <p:spPr>
          <a:xfrm>
            <a:off x="6949440" y="2103120"/>
            <a:ext cx="456840" cy="456840"/>
          </a:xfrm>
          <a:prstGeom prst="rect">
            <a:avLst/>
          </a:prstGeom>
          <a:noFill/>
          <a:ln w="0">
            <a:noFill/>
          </a:ln>
        </p:spPr>
      </p:pic>
      <p:sp>
        <p:nvSpPr>
          <p:cNvPr id="63" name="Text 10"/>
          <p:cNvSpPr/>
          <p:nvPr/>
        </p:nvSpPr>
        <p:spPr>
          <a:xfrm>
            <a:off x="6903720" y="2651760"/>
            <a:ext cx="205704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s-CL" sz="2600" b="1" u="none" strike="noStrike">
                <a:solidFill>
                  <a:srgbClr val="EC7211"/>
                </a:solidFill>
                <a:effectLst/>
                <a:uFillTx/>
                <a:latin typeface="Trebuchet MS"/>
                <a:ea typeface="Trebuchet MS"/>
              </a:rPr>
              <a:t>~60</a:t>
            </a:r>
            <a:endParaRPr lang="es-CL" sz="2600" b="0" u="none" strike="noStrike">
              <a:solidFill>
                <a:srgbClr val="000000"/>
              </a:solidFill>
              <a:effectLst/>
              <a:uFillTx/>
              <a:latin typeface="Arial"/>
            </a:endParaRPr>
          </a:p>
        </p:txBody>
      </p:sp>
      <p:sp>
        <p:nvSpPr>
          <p:cNvPr id="64" name="Text 11"/>
          <p:cNvSpPr/>
          <p:nvPr/>
        </p:nvSpPr>
        <p:spPr>
          <a:xfrm>
            <a:off x="6903720" y="3291840"/>
            <a:ext cx="214848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s-CL" sz="1150" b="0" u="none" strike="noStrike">
                <a:solidFill>
                  <a:srgbClr val="5A6472"/>
                </a:solidFill>
                <a:effectLst/>
                <a:uFillTx/>
                <a:latin typeface="Calibri"/>
                <a:ea typeface="Calibri"/>
              </a:rPr>
              <a:t>Investigadores (Memoria CR2 2013–2022)</a:t>
            </a:r>
            <a:endParaRPr lang="es-CL" sz="1150" b="0" u="none" strike="noStrike">
              <a:solidFill>
                <a:srgbClr val="000000"/>
              </a:solidFill>
              <a:effectLst/>
              <a:uFillTx/>
              <a:latin typeface="Arial"/>
            </a:endParaRPr>
          </a:p>
        </p:txBody>
      </p:sp>
      <p:sp>
        <p:nvSpPr>
          <p:cNvPr id="65" name="Shape 12"/>
          <p:cNvSpPr/>
          <p:nvPr/>
        </p:nvSpPr>
        <p:spPr>
          <a:xfrm>
            <a:off x="9509760" y="1783080"/>
            <a:ext cx="2605680" cy="2057040"/>
          </a:xfrm>
          <a:prstGeom prst="roundRect">
            <a:avLst>
              <a:gd name="adj" fmla="val 2667"/>
            </a:avLst>
          </a:prstGeom>
          <a:solidFill>
            <a:srgbClr val="FFFFFF"/>
          </a:solidFill>
          <a:ln w="12700">
            <a:solidFill>
              <a:srgbClr val="E3E8EE"/>
            </a:solidFill>
            <a:round/>
          </a:ln>
          <a:effectLst>
            <a:outerShdw algn="bl" blurRad="88920" dir="8100000" dist="37674" rotWithShape="0">
              <a:srgbClr val="000000">
                <a:alpha val="14000"/>
              </a:srgbClr>
            </a:outerShdw>
          </a:effectLst>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66" name="Shape 13"/>
          <p:cNvSpPr/>
          <p:nvPr/>
        </p:nvSpPr>
        <p:spPr>
          <a:xfrm>
            <a:off x="9509760" y="1783080"/>
            <a:ext cx="91080" cy="2057040"/>
          </a:xfrm>
          <a:prstGeom prst="rect">
            <a:avLst/>
          </a:prstGeom>
          <a:solidFill>
            <a:srgbClr val="FF9900"/>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pic>
        <p:nvPicPr>
          <p:cNvPr id="67" name="Image 1" descr="icon_47gzxgnvv8q.svg"/>
          <p:cNvPicPr/>
          <p:nvPr/>
        </p:nvPicPr>
        <p:blipFill>
          <a:blip r:embed="rId3">
            <a:extLst>
              <a:ext uri="{96DAC541-7B7A-43D3-8B79-37D633B846F1}">
                <asvg:svgBlip xmlns:asvg="http://schemas.microsoft.com/office/drawing/2016/SVG/main" r:embed="rId4"/>
              </a:ext>
            </a:extLst>
          </a:blip>
          <a:stretch/>
        </p:blipFill>
        <p:spPr>
          <a:xfrm>
            <a:off x="9829800" y="2103120"/>
            <a:ext cx="456840" cy="456840"/>
          </a:xfrm>
          <a:prstGeom prst="rect">
            <a:avLst/>
          </a:prstGeom>
          <a:noFill/>
          <a:ln w="0">
            <a:noFill/>
          </a:ln>
        </p:spPr>
      </p:pic>
      <p:sp>
        <p:nvSpPr>
          <p:cNvPr id="68" name="Text 14"/>
          <p:cNvSpPr/>
          <p:nvPr/>
        </p:nvSpPr>
        <p:spPr>
          <a:xfrm>
            <a:off x="9784080" y="2651760"/>
            <a:ext cx="205704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s-CL" sz="2600" b="1" u="none" strike="noStrike">
                <a:solidFill>
                  <a:srgbClr val="EC7211"/>
                </a:solidFill>
                <a:effectLst/>
                <a:uFillTx/>
                <a:latin typeface="Trebuchet MS"/>
                <a:ea typeface="Trebuchet MS"/>
              </a:rPr>
              <a:t>3</a:t>
            </a:r>
            <a:endParaRPr lang="es-CL" sz="2600" b="0" u="none" strike="noStrike">
              <a:solidFill>
                <a:srgbClr val="000000"/>
              </a:solidFill>
              <a:effectLst/>
              <a:uFillTx/>
              <a:latin typeface="Arial"/>
            </a:endParaRPr>
          </a:p>
        </p:txBody>
      </p:sp>
      <p:sp>
        <p:nvSpPr>
          <p:cNvPr id="69" name="Text 15"/>
          <p:cNvSpPr/>
          <p:nvPr/>
        </p:nvSpPr>
        <p:spPr>
          <a:xfrm>
            <a:off x="9784080" y="3291840"/>
            <a:ext cx="214848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s-CL" sz="1150" b="0" u="none" strike="noStrike">
                <a:solidFill>
                  <a:srgbClr val="5A6472"/>
                </a:solidFill>
                <a:effectLst/>
                <a:uFillTx/>
                <a:latin typeface="Calibri"/>
                <a:ea typeface="Calibri"/>
              </a:rPr>
              <a:t>Universidades: U. de Chile, UdeC y UACh</a:t>
            </a:r>
            <a:endParaRPr lang="es-CL" sz="1150" b="0" u="none" strike="noStrike">
              <a:solidFill>
                <a:srgbClr val="000000"/>
              </a:solidFill>
              <a:effectLst/>
              <a:uFillTx/>
              <a:latin typeface="Arial"/>
            </a:endParaRPr>
          </a:p>
        </p:txBody>
      </p:sp>
      <p:sp>
        <p:nvSpPr>
          <p:cNvPr id="70" name="Shape 16"/>
          <p:cNvSpPr/>
          <p:nvPr/>
        </p:nvSpPr>
        <p:spPr>
          <a:xfrm>
            <a:off x="6629400" y="4114800"/>
            <a:ext cx="2605680" cy="2057040"/>
          </a:xfrm>
          <a:prstGeom prst="roundRect">
            <a:avLst>
              <a:gd name="adj" fmla="val 2667"/>
            </a:avLst>
          </a:prstGeom>
          <a:solidFill>
            <a:srgbClr val="FFFFFF"/>
          </a:solidFill>
          <a:ln w="12700">
            <a:solidFill>
              <a:srgbClr val="E3E8EE"/>
            </a:solidFill>
            <a:round/>
          </a:ln>
          <a:effectLst>
            <a:outerShdw algn="bl" blurRad="88920" dir="8100000" dist="37674" rotWithShape="0">
              <a:srgbClr val="000000">
                <a:alpha val="14000"/>
              </a:srgbClr>
            </a:outerShdw>
          </a:effectLst>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1" name="Shape 17"/>
          <p:cNvSpPr/>
          <p:nvPr/>
        </p:nvSpPr>
        <p:spPr>
          <a:xfrm>
            <a:off x="6629400" y="4114800"/>
            <a:ext cx="91080" cy="2057040"/>
          </a:xfrm>
          <a:prstGeom prst="rect">
            <a:avLst/>
          </a:prstGeom>
          <a:solidFill>
            <a:srgbClr val="FF9900"/>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pic>
        <p:nvPicPr>
          <p:cNvPr id="72" name="Image 2" descr="icon_94vlm61d7v.svg"/>
          <p:cNvPicPr/>
          <p:nvPr/>
        </p:nvPicPr>
        <p:blipFill>
          <a:blip r:embed="rId5">
            <a:extLst>
              <a:ext uri="{96DAC541-7B7A-43D3-8B79-37D633B846F1}">
                <asvg:svgBlip xmlns:asvg="http://schemas.microsoft.com/office/drawing/2016/SVG/main" r:embed="rId6"/>
              </a:ext>
            </a:extLst>
          </a:blip>
          <a:stretch/>
        </p:blipFill>
        <p:spPr>
          <a:xfrm>
            <a:off x="6949440" y="4434840"/>
            <a:ext cx="456840" cy="456840"/>
          </a:xfrm>
          <a:prstGeom prst="rect">
            <a:avLst/>
          </a:prstGeom>
          <a:noFill/>
          <a:ln w="0">
            <a:noFill/>
          </a:ln>
        </p:spPr>
      </p:pic>
      <p:sp>
        <p:nvSpPr>
          <p:cNvPr id="73" name="Text 18"/>
          <p:cNvSpPr/>
          <p:nvPr/>
        </p:nvSpPr>
        <p:spPr>
          <a:xfrm>
            <a:off x="6903720" y="4983480"/>
            <a:ext cx="205704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s-CL" sz="2600" b="1" u="none" strike="noStrike">
                <a:solidFill>
                  <a:srgbClr val="EC7211"/>
                </a:solidFill>
                <a:effectLst/>
                <a:uFillTx/>
                <a:latin typeface="Trebuchet MS"/>
                <a:ea typeface="Trebuchet MS"/>
              </a:rPr>
              <a:t>13 años</a:t>
            </a:r>
            <a:endParaRPr lang="es-CL" sz="2600" b="0" u="none" strike="noStrike">
              <a:solidFill>
                <a:srgbClr val="000000"/>
              </a:solidFill>
              <a:effectLst/>
              <a:uFillTx/>
              <a:latin typeface="Arial"/>
            </a:endParaRPr>
          </a:p>
        </p:txBody>
      </p:sp>
      <p:sp>
        <p:nvSpPr>
          <p:cNvPr id="74" name="Text 19"/>
          <p:cNvSpPr/>
          <p:nvPr/>
        </p:nvSpPr>
        <p:spPr>
          <a:xfrm>
            <a:off x="6903720" y="5623560"/>
            <a:ext cx="214848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s-CL" sz="1150" b="0" u="none" strike="noStrike">
                <a:solidFill>
                  <a:srgbClr val="5A6472"/>
                </a:solidFill>
                <a:effectLst/>
                <a:uFillTx/>
                <a:latin typeface="Calibri"/>
                <a:ea typeface="Calibri"/>
              </a:rPr>
              <a:t>Estudiando el clima de Chile (desde 2013)</a:t>
            </a:r>
            <a:endParaRPr lang="es-CL" sz="1150" b="0" u="none" strike="noStrike">
              <a:solidFill>
                <a:srgbClr val="000000"/>
              </a:solidFill>
              <a:effectLst/>
              <a:uFillTx/>
              <a:latin typeface="Arial"/>
            </a:endParaRPr>
          </a:p>
        </p:txBody>
      </p:sp>
      <p:sp>
        <p:nvSpPr>
          <p:cNvPr id="75" name="Shape 20"/>
          <p:cNvSpPr/>
          <p:nvPr/>
        </p:nvSpPr>
        <p:spPr>
          <a:xfrm>
            <a:off x="9509760" y="4114800"/>
            <a:ext cx="2605680" cy="2057040"/>
          </a:xfrm>
          <a:prstGeom prst="roundRect">
            <a:avLst>
              <a:gd name="adj" fmla="val 2667"/>
            </a:avLst>
          </a:prstGeom>
          <a:solidFill>
            <a:srgbClr val="FFFFFF"/>
          </a:solidFill>
          <a:ln w="12700">
            <a:solidFill>
              <a:srgbClr val="E3E8EE"/>
            </a:solidFill>
            <a:round/>
          </a:ln>
          <a:effectLst>
            <a:outerShdw algn="bl" blurRad="88920" dir="8100000" dist="37674" rotWithShape="0">
              <a:srgbClr val="000000">
                <a:alpha val="14000"/>
              </a:srgbClr>
            </a:outerShdw>
          </a:effectLst>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76" name="Shape 21"/>
          <p:cNvSpPr/>
          <p:nvPr/>
        </p:nvSpPr>
        <p:spPr>
          <a:xfrm>
            <a:off x="9509760" y="4114800"/>
            <a:ext cx="91080" cy="2057040"/>
          </a:xfrm>
          <a:prstGeom prst="rect">
            <a:avLst/>
          </a:prstGeom>
          <a:solidFill>
            <a:srgbClr val="FF9900"/>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pic>
        <p:nvPicPr>
          <p:cNvPr id="77" name="Image 3" descr="icon_1mhryr3qrkx.svg"/>
          <p:cNvPicPr/>
          <p:nvPr/>
        </p:nvPicPr>
        <p:blipFill>
          <a:blip r:embed="rId7">
            <a:extLst>
              <a:ext uri="{96DAC541-7B7A-43D3-8B79-37D633B846F1}">
                <asvg:svgBlip xmlns:asvg="http://schemas.microsoft.com/office/drawing/2016/SVG/main" r:embed="rId8"/>
              </a:ext>
            </a:extLst>
          </a:blip>
          <a:stretch/>
        </p:blipFill>
        <p:spPr>
          <a:xfrm>
            <a:off x="9829800" y="4434840"/>
            <a:ext cx="456840" cy="456840"/>
          </a:xfrm>
          <a:prstGeom prst="rect">
            <a:avLst/>
          </a:prstGeom>
          <a:noFill/>
          <a:ln w="0">
            <a:noFill/>
          </a:ln>
        </p:spPr>
      </p:pic>
      <p:sp>
        <p:nvSpPr>
          <p:cNvPr id="78" name="Text 22"/>
          <p:cNvSpPr/>
          <p:nvPr/>
        </p:nvSpPr>
        <p:spPr>
          <a:xfrm>
            <a:off x="9784080" y="4983480"/>
            <a:ext cx="205704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s-CL" sz="2600" b="1" u="none" strike="noStrike">
                <a:solidFill>
                  <a:srgbClr val="EC7211"/>
                </a:solidFill>
                <a:effectLst/>
                <a:uFillTx/>
                <a:latin typeface="Trebuchet MS"/>
                <a:ea typeface="Trebuchet MS"/>
              </a:rPr>
              <a:t>5,5 M</a:t>
            </a:r>
            <a:endParaRPr lang="es-CL" sz="2600" b="0" u="none" strike="noStrike">
              <a:solidFill>
                <a:srgbClr val="000000"/>
              </a:solidFill>
              <a:effectLst/>
              <a:uFillTx/>
              <a:latin typeface="Arial"/>
            </a:endParaRPr>
          </a:p>
        </p:txBody>
      </p:sp>
      <p:sp>
        <p:nvSpPr>
          <p:cNvPr id="79" name="Text 23"/>
          <p:cNvSpPr/>
          <p:nvPr/>
        </p:nvSpPr>
        <p:spPr>
          <a:xfrm>
            <a:off x="9784080" y="5623560"/>
            <a:ext cx="214848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s-CL" sz="1150" b="0" u="none" strike="noStrike">
                <a:solidFill>
                  <a:srgbClr val="5A6472"/>
                </a:solidFill>
                <a:effectLst/>
                <a:uFillTx/>
                <a:latin typeface="Calibri"/>
                <a:ea typeface="Calibri"/>
              </a:rPr>
              <a:t>Personas en la zona de tornados (Censo 2024)</a:t>
            </a:r>
            <a:endParaRPr lang="es-CL" sz="1150" b="0" u="none" strike="noStrike">
              <a:solidFill>
                <a:srgbClr val="000000"/>
              </a:solidFill>
              <a:effectLst/>
              <a:uFillTx/>
              <a:latin typeface="Arial"/>
            </a:endParaRPr>
          </a:p>
        </p:txBody>
      </p:sp>
      <p:sp>
        <p:nvSpPr>
          <p:cNvPr id="80" name="Text 24"/>
          <p:cNvSpPr/>
          <p:nvPr/>
        </p:nvSpPr>
        <p:spPr>
          <a:xfrm>
            <a:off x="548640" y="6437520"/>
            <a:ext cx="8229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s-CL" sz="900" b="1" u="none" strike="noStrike">
                <a:solidFill>
                  <a:srgbClr val="5A6472"/>
                </a:solidFill>
                <a:effectLst/>
                <a:uFillTx/>
                <a:latin typeface="Calibri"/>
                <a:ea typeface="Calibri"/>
              </a:rPr>
              <a:t>AWS Breaking Barriers Chile 2026</a:t>
            </a:r>
            <a:r>
              <a:rPr lang="es-CL" sz="900" b="0" u="none" strike="noStrike">
                <a:solidFill>
                  <a:srgbClr val="5A6472"/>
                </a:solidFill>
                <a:effectLst/>
                <a:uFillTx/>
                <a:latin typeface="Calibri"/>
                <a:ea typeface="Calibri"/>
              </a:rPr>
              <a:t>   |   Desafío CR2 · Universidad de Chile</a:t>
            </a:r>
            <a:endParaRPr lang="es-CL" sz="900" b="0" u="none" strike="noStrike">
              <a:solidFill>
                <a:srgbClr val="000000"/>
              </a:solidFill>
              <a:effectLst/>
              <a:uFillTx/>
              <a:latin typeface="Arial"/>
            </a:endParaRPr>
          </a:p>
        </p:txBody>
      </p:sp>
      <p:sp>
        <p:nvSpPr>
          <p:cNvPr id="81" name="Text 25"/>
          <p:cNvSpPr/>
          <p:nvPr/>
        </p:nvSpPr>
        <p:spPr>
          <a:xfrm>
            <a:off x="11338560" y="6437520"/>
            <a:ext cx="36540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s-CL" sz="900" b="0" u="none" strike="noStrike">
                <a:solidFill>
                  <a:srgbClr val="5A6472"/>
                </a:solidFill>
                <a:effectLst/>
                <a:uFillTx/>
                <a:latin typeface="Calibri"/>
                <a:ea typeface="Calibri"/>
              </a:rPr>
              <a:t>3</a:t>
            </a:r>
            <a:endParaRPr lang="es-CL"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8"/>
        </a:solidFill>
      </p:bgPr>
    </p:bg>
    <p:spTree>
      <p:nvGrpSpPr>
        <p:cNvPr id="1" name=""/>
        <p:cNvGrpSpPr/>
        <p:nvPr/>
      </p:nvGrpSpPr>
      <p:grpSpPr>
        <a:xfrm>
          <a:off x="0" y="0"/>
          <a:ext cx="0" cy="0"/>
          <a:chOff x="0" y="0"/>
          <a:chExt cx="0" cy="0"/>
        </a:xfrm>
      </p:grpSpPr>
      <p:sp>
        <p:nvSpPr>
          <p:cNvPr id="82" name="Shape 0"/>
          <p:cNvSpPr/>
          <p:nvPr/>
        </p:nvSpPr>
        <p:spPr>
          <a:xfrm>
            <a:off x="0" y="0"/>
            <a:ext cx="12191400" cy="109440"/>
          </a:xfrm>
          <a:prstGeom prst="rect">
            <a:avLst/>
          </a:prstGeom>
          <a:solidFill>
            <a:srgbClr val="00A1C9"/>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3" name="Text 1"/>
          <p:cNvSpPr/>
          <p:nvPr/>
        </p:nvSpPr>
        <p:spPr>
          <a:xfrm>
            <a:off x="548640" y="384120"/>
            <a:ext cx="914364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pc="201" strike="noStrike">
                <a:solidFill>
                  <a:srgbClr val="00A1C9"/>
                </a:solidFill>
                <a:effectLst/>
                <a:uFillTx/>
                <a:latin typeface="Trebuchet MS"/>
                <a:ea typeface="Trebuchet MS"/>
              </a:rPr>
              <a:t>ACTO 2  ·  RELEVANCIA E IMPACTO</a:t>
            </a:r>
            <a:endParaRPr lang="es-CL" sz="1200" b="0" u="none" strike="noStrike">
              <a:solidFill>
                <a:srgbClr val="000000"/>
              </a:solidFill>
              <a:effectLst/>
              <a:uFillTx/>
              <a:latin typeface="Arial"/>
            </a:endParaRPr>
          </a:p>
        </p:txBody>
      </p:sp>
      <p:sp>
        <p:nvSpPr>
          <p:cNvPr id="84" name="Text 2"/>
          <p:cNvSpPr/>
          <p:nvPr/>
        </p:nvSpPr>
        <p:spPr>
          <a:xfrm>
            <a:off x="548640" y="676800"/>
            <a:ext cx="1106388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s-CL" sz="2800" b="1" u="none" strike="noStrike">
                <a:solidFill>
                  <a:srgbClr val="232F3E"/>
                </a:solidFill>
                <a:effectLst/>
                <a:uFillTx/>
                <a:latin typeface="Trebuchet MS"/>
                <a:ea typeface="Trebuchet MS"/>
              </a:rPr>
              <a:t>Por qué importa</a:t>
            </a:r>
            <a:endParaRPr lang="es-CL" sz="2800" b="0" u="none" strike="noStrike">
              <a:solidFill>
                <a:srgbClr val="000000"/>
              </a:solidFill>
              <a:effectLst/>
              <a:uFillTx/>
              <a:latin typeface="Arial"/>
            </a:endParaRPr>
          </a:p>
        </p:txBody>
      </p:sp>
      <p:sp>
        <p:nvSpPr>
          <p:cNvPr id="85" name="Shape 3"/>
          <p:cNvSpPr/>
          <p:nvPr/>
        </p:nvSpPr>
        <p:spPr>
          <a:xfrm>
            <a:off x="567000" y="1389960"/>
            <a:ext cx="1371240" cy="40680"/>
          </a:xfrm>
          <a:prstGeom prst="rect">
            <a:avLst/>
          </a:prstGeom>
          <a:solidFill>
            <a:srgbClr val="00A1C9"/>
          </a:solidFill>
          <a:ln w="0">
            <a:noFill/>
          </a:ln>
        </p:spPr>
        <p:style>
          <a:lnRef idx="0"/>
          <a:fillRef idx="0"/>
          <a:effectRef idx="0"/>
          <a:fontRef idx="minor"/>
        </p:style>
        <p:txBody>
          <a:bodyPr lIns="90000" tIns="-3960" rIns="90000" bIns="-3960" anchor="t">
            <a:noAutofit/>
          </a:bodyPr>
          <a:p>
            <a:endParaRPr lang="en-US" sz="1800" b="0" u="none" strike="noStrike">
              <a:solidFill>
                <a:schemeClr val="dk1"/>
              </a:solidFill>
              <a:effectLst/>
              <a:uFillTx/>
              <a:latin typeface="Calibri"/>
            </a:endParaRPr>
          </a:p>
        </p:txBody>
      </p:sp>
      <p:sp>
        <p:nvSpPr>
          <p:cNvPr id="86" name="Shape 4"/>
          <p:cNvSpPr/>
          <p:nvPr/>
        </p:nvSpPr>
        <p:spPr>
          <a:xfrm>
            <a:off x="548640" y="1783080"/>
            <a:ext cx="3611520" cy="2194200"/>
          </a:xfrm>
          <a:prstGeom prst="roundRect">
            <a:avLst>
              <a:gd name="adj" fmla="val 2500"/>
            </a:avLst>
          </a:prstGeom>
          <a:solidFill>
            <a:srgbClr val="FFFFFF"/>
          </a:solidFill>
          <a:ln w="12700">
            <a:solidFill>
              <a:srgbClr val="E3E8EE"/>
            </a:solidFill>
            <a:round/>
          </a:ln>
          <a:effectLst>
            <a:outerShdw algn="bl" blurRad="88920" dir="8100000" dist="37674" rotWithShape="0">
              <a:srgbClr val="000000">
                <a:alpha val="14000"/>
              </a:srgbClr>
            </a:outerShdw>
          </a:effectLst>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87" name="Shape 5"/>
          <p:cNvSpPr/>
          <p:nvPr/>
        </p:nvSpPr>
        <p:spPr>
          <a:xfrm>
            <a:off x="868680" y="2103120"/>
            <a:ext cx="776880" cy="776880"/>
          </a:xfrm>
          <a:prstGeom prst="ellipse">
            <a:avLst/>
          </a:prstGeom>
          <a:solidFill>
            <a:srgbClr val="00A1C9">
              <a:alpha val="15000"/>
            </a:srgbClr>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pic>
        <p:nvPicPr>
          <p:cNvPr id="88" name="Image 0" descr="icon_03wu7k3zcjkd.svg"/>
          <p:cNvPicPr/>
          <p:nvPr/>
        </p:nvPicPr>
        <p:blipFill>
          <a:blip r:embed="rId1">
            <a:extLst>
              <a:ext uri="{96DAC541-7B7A-43D3-8B79-37D633B846F1}">
                <asvg:svgBlip xmlns:asvg="http://schemas.microsoft.com/office/drawing/2016/SVG/main" r:embed="rId2"/>
              </a:ext>
            </a:extLst>
          </a:blip>
          <a:stretch/>
        </p:blipFill>
        <p:spPr>
          <a:xfrm>
            <a:off x="1024200" y="2258640"/>
            <a:ext cx="456840" cy="456840"/>
          </a:xfrm>
          <a:prstGeom prst="rect">
            <a:avLst/>
          </a:prstGeom>
          <a:noFill/>
          <a:ln w="0">
            <a:noFill/>
          </a:ln>
        </p:spPr>
      </p:pic>
      <p:sp>
        <p:nvSpPr>
          <p:cNvPr id="89" name="Text 6"/>
          <p:cNvSpPr/>
          <p:nvPr/>
        </p:nvSpPr>
        <p:spPr>
          <a:xfrm>
            <a:off x="868680" y="2971800"/>
            <a:ext cx="2971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232F3E"/>
                </a:solidFill>
                <a:effectLst/>
                <a:uFillTx/>
                <a:latin typeface="Trebuchet MS"/>
                <a:ea typeface="Trebuchet MS"/>
              </a:rPr>
              <a:t>Relevante para el sector</a:t>
            </a:r>
            <a:endParaRPr lang="es-CL" sz="1400" b="0" u="none" strike="noStrike">
              <a:solidFill>
                <a:srgbClr val="000000"/>
              </a:solidFill>
              <a:effectLst/>
              <a:uFillTx/>
              <a:latin typeface="Arial"/>
            </a:endParaRPr>
          </a:p>
        </p:txBody>
      </p:sp>
      <p:sp>
        <p:nvSpPr>
          <p:cNvPr id="90" name="Text 7"/>
          <p:cNvSpPr/>
          <p:nvPr/>
        </p:nvSpPr>
        <p:spPr>
          <a:xfrm>
            <a:off x="868680" y="3355920"/>
            <a:ext cx="2971440" cy="548280"/>
          </a:xfrm>
          <a:prstGeom prst="rect">
            <a:avLst/>
          </a:prstGeom>
          <a:noFill/>
          <a:ln w="0">
            <a:noFill/>
          </a:ln>
        </p:spPr>
        <p:style>
          <a:lnRef idx="0"/>
          <a:fillRef idx="0"/>
          <a:effectRef idx="0"/>
          <a:fontRef idx="minor"/>
        </p:style>
        <p:txBody>
          <a:bodyPr lIns="0" tIns="0" rIns="0" bIns="0" anchor="t">
            <a:noAutofit/>
          </a:bodyPr>
          <a:p>
            <a:pPr defTabSz="914400">
              <a:lnSpc>
                <a:spcPts val="1312"/>
              </a:lnSpc>
              <a:tabLst>
                <a:tab pos="0" algn="l"/>
              </a:tabLst>
            </a:pPr>
            <a:r>
              <a:rPr lang="es-CL" sz="1050" b="0" u="none" strike="noStrike">
                <a:solidFill>
                  <a:srgbClr val="8893A0"/>
                </a:solidFill>
                <a:effectLst/>
                <a:uFillTx/>
                <a:latin typeface="Calibri"/>
                <a:ea typeface="Calibri"/>
              </a:rPr>
              <a:t>Los tornados no figuran como amenaza climática en Chile y no hay radares en red. Faltan datos para cambiar eso.</a:t>
            </a:r>
            <a:endParaRPr lang="es-CL" sz="1050" b="0" u="none" strike="noStrike">
              <a:solidFill>
                <a:srgbClr val="000000"/>
              </a:solidFill>
              <a:effectLst/>
              <a:uFillTx/>
              <a:latin typeface="Arial"/>
            </a:endParaRPr>
          </a:p>
        </p:txBody>
      </p:sp>
      <p:sp>
        <p:nvSpPr>
          <p:cNvPr id="91" name="Shape 8"/>
          <p:cNvSpPr/>
          <p:nvPr/>
        </p:nvSpPr>
        <p:spPr>
          <a:xfrm>
            <a:off x="4434840" y="1783080"/>
            <a:ext cx="3611520" cy="2194200"/>
          </a:xfrm>
          <a:prstGeom prst="roundRect">
            <a:avLst>
              <a:gd name="adj" fmla="val 2500"/>
            </a:avLst>
          </a:prstGeom>
          <a:solidFill>
            <a:srgbClr val="FFFFFF"/>
          </a:solidFill>
          <a:ln w="12700">
            <a:solidFill>
              <a:srgbClr val="E3E8EE"/>
            </a:solidFill>
            <a:round/>
          </a:ln>
          <a:effectLst>
            <a:outerShdw algn="bl" blurRad="88920" dir="8100000" dist="37674" rotWithShape="0">
              <a:srgbClr val="000000">
                <a:alpha val="14000"/>
              </a:srgbClr>
            </a:outerShdw>
          </a:effectLst>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2" name="Shape 9"/>
          <p:cNvSpPr/>
          <p:nvPr/>
        </p:nvSpPr>
        <p:spPr>
          <a:xfrm>
            <a:off x="4754880" y="2103120"/>
            <a:ext cx="776880" cy="776880"/>
          </a:xfrm>
          <a:prstGeom prst="ellipse">
            <a:avLst/>
          </a:prstGeom>
          <a:solidFill>
            <a:srgbClr val="FF9900">
              <a:alpha val="15000"/>
            </a:srgbClr>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pic>
        <p:nvPicPr>
          <p:cNvPr id="93" name="Image 1" descr="icon_yncrv40jaje.svg"/>
          <p:cNvPicPr/>
          <p:nvPr/>
        </p:nvPicPr>
        <p:blipFill>
          <a:blip r:embed="rId3">
            <a:extLst>
              <a:ext uri="{96DAC541-7B7A-43D3-8B79-37D633B846F1}">
                <asvg:svgBlip xmlns:asvg="http://schemas.microsoft.com/office/drawing/2016/SVG/main" r:embed="rId4"/>
              </a:ext>
            </a:extLst>
          </a:blip>
          <a:stretch/>
        </p:blipFill>
        <p:spPr>
          <a:xfrm>
            <a:off x="4910400" y="2258640"/>
            <a:ext cx="456840" cy="456840"/>
          </a:xfrm>
          <a:prstGeom prst="rect">
            <a:avLst/>
          </a:prstGeom>
          <a:noFill/>
          <a:ln w="0">
            <a:noFill/>
          </a:ln>
        </p:spPr>
      </p:pic>
      <p:sp>
        <p:nvSpPr>
          <p:cNvPr id="94" name="Text 10"/>
          <p:cNvSpPr/>
          <p:nvPr/>
        </p:nvSpPr>
        <p:spPr>
          <a:xfrm>
            <a:off x="4754880" y="2971800"/>
            <a:ext cx="2971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s-CL" sz="1400" b="1" u="none" strike="noStrike">
                <a:solidFill>
                  <a:srgbClr val="232F3E"/>
                </a:solidFill>
                <a:effectLst/>
                <a:uFillTx/>
                <a:latin typeface="Trebuchet MS"/>
                <a:ea typeface="Trebuchet MS"/>
              </a:rPr>
              <a:t>Qué problema resuelve</a:t>
            </a:r>
            <a:endParaRPr lang="es-CL" sz="1400" b="0" u="none" strike="noStrike">
              <a:solidFill>
                <a:srgbClr val="000000"/>
              </a:solidFill>
              <a:effectLst/>
              <a:uFillTx/>
              <a:latin typeface="Arial"/>
            </a:endParaRPr>
          </a:p>
        </p:txBody>
      </p:sp>
      <p:sp>
        <p:nvSpPr>
          <p:cNvPr id="95" name="Text 11"/>
          <p:cNvSpPr/>
          <p:nvPr/>
        </p:nvSpPr>
        <p:spPr>
          <a:xfrm>
            <a:off x="4754880" y="3355920"/>
            <a:ext cx="2971440" cy="548280"/>
          </a:xfrm>
          <a:prstGeom prst="rect">
            <a:avLst/>
          </a:prstGeom>
          <a:noFill/>
          <a:ln w="0">
            <a:noFill/>
          </a:ln>
        </p:spPr>
        <p:style>
          <a:lnRef idx="0"/>
          <a:fillRef idx="0"/>
          <a:effectRef idx="0"/>
          <a:fontRef idx="minor"/>
        </p:style>
        <p:txBody>
          <a:bodyPr lIns="0" tIns="0" rIns="0" bIns="0" anchor="t">
            <a:noAutofit/>
          </a:bodyPr>
          <a:p>
            <a:pPr defTabSz="914400">
              <a:lnSpc>
                <a:spcPts val="1312"/>
              </a:lnSpc>
              <a:tabLst>
                <a:tab pos="0" algn="l"/>
              </a:tabLst>
            </a:pPr>
            <a:r>
              <a:rPr lang="es-CL" sz="1050" b="0" u="none" strike="noStrike">
                <a:solidFill>
                  <a:srgbClr val="8893A0"/>
                </a:solidFill>
                <a:effectLst/>
                <a:uFillTx/>
                <a:latin typeface="Calibri"/>
                <a:ea typeface="Calibri"/>
              </a:rPr>
              <a:t>Reconoce, con ERA5 y GOES, qué tormentas tienen condiciones para formar un mesociclón.</a:t>
            </a:r>
            <a:endParaRPr lang="es-CL" sz="1050" b="0" u="none" strike="noStrike">
              <a:solidFill>
                <a:srgbClr val="000000"/>
              </a:solidFill>
              <a:effectLst/>
              <a:uFillTx/>
              <a:latin typeface="Arial"/>
            </a:endParaRPr>
          </a:p>
        </p:txBody>
      </p:sp>
      <p:sp>
        <p:nvSpPr>
          <p:cNvPr id="96" name="Shape 12"/>
          <p:cNvSpPr/>
          <p:nvPr/>
        </p:nvSpPr>
        <p:spPr>
          <a:xfrm>
            <a:off x="8321040" y="1783080"/>
            <a:ext cx="3611520" cy="2194200"/>
          </a:xfrm>
          <a:prstGeom prst="roundRect">
            <a:avLst>
              <a:gd name="adj" fmla="val 2500"/>
            </a:avLst>
          </a:prstGeom>
          <a:solidFill>
            <a:srgbClr val="FFFFFF"/>
          </a:solidFill>
          <a:ln w="12700">
            <a:solidFill>
              <a:srgbClr val="E3E8EE"/>
            </a:solidFill>
            <a:round/>
          </a:ln>
          <a:effectLst>
            <a:outerShdw algn="bl" blurRad="88920" dir="8100000" dist="37674" rotWithShape="0">
              <a:srgbClr val="000000">
                <a:alpha val="14000"/>
              </a:srgbClr>
            </a:outerShdw>
          </a:effectLst>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97" name="Shape 13"/>
          <p:cNvSpPr/>
          <p:nvPr/>
        </p:nvSpPr>
        <p:spPr>
          <a:xfrm>
            <a:off x="8641080" y="2103120"/>
            <a:ext cx="776880" cy="776880"/>
          </a:xfrm>
          <a:prstGeom prst="ellipse">
            <a:avLst/>
          </a:prstGeom>
          <a:solidFill>
            <a:srgbClr val="1E8E3E">
              <a:alpha val="15000"/>
            </a:srgbClr>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pic>
        <p:nvPicPr>
          <p:cNvPr id="98" name="Image 2" descr="icon_j7kplrxu8tf.svg"/>
          <p:cNvPicPr/>
          <p:nvPr/>
        </p:nvPicPr>
        <p:blipFill>
          <a:blip r:embed="rId5">
            <a:extLst>
              <a:ext uri="{96DAC541-7B7A-43D3-8B79-37D633B846F1}">
                <asvg:svgBlip xmlns:asvg="http://schemas.microsoft.com/office/drawing/2016/SVG/main" r:embed="rId6"/>
              </a:ext>
            </a:extLst>
          </a:blip>
          <a:stretch/>
        </p:blipFill>
        <p:spPr>
          <a:xfrm>
            <a:off x="8796600" y="2258640"/>
            <a:ext cx="456840" cy="456840"/>
          </a:xfrm>
          <a:prstGeom prst="rect">
            <a:avLst/>
          </a:prstGeom>
          <a:noFill/>
          <a:ln w="0">
            <a:noFill/>
          </a:ln>
        </p:spPr>
      </p:pic>
      <p:sp>
        <p:nvSpPr>
          <p:cNvPr id="99" name="Text 14"/>
          <p:cNvSpPr/>
          <p:nvPr/>
        </p:nvSpPr>
        <p:spPr>
          <a:xfrm>
            <a:off x="8641080" y="2971800"/>
            <a:ext cx="2971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232F3E"/>
                </a:solidFill>
                <a:effectLst/>
                <a:uFillTx/>
                <a:latin typeface="Trebuchet MS"/>
                <a:ea typeface="Trebuchet MS"/>
              </a:rPr>
              <a:t>Impacto en el beneficiario</a:t>
            </a:r>
            <a:endParaRPr lang="es-CL" sz="1400" b="0" u="none" strike="noStrike">
              <a:solidFill>
                <a:srgbClr val="000000"/>
              </a:solidFill>
              <a:effectLst/>
              <a:uFillTx/>
              <a:latin typeface="Arial"/>
            </a:endParaRPr>
          </a:p>
        </p:txBody>
      </p:sp>
      <p:sp>
        <p:nvSpPr>
          <p:cNvPr id="100" name="Text 15"/>
          <p:cNvSpPr/>
          <p:nvPr/>
        </p:nvSpPr>
        <p:spPr>
          <a:xfrm>
            <a:off x="8641080" y="3355920"/>
            <a:ext cx="2971440" cy="548280"/>
          </a:xfrm>
          <a:prstGeom prst="rect">
            <a:avLst/>
          </a:prstGeom>
          <a:noFill/>
          <a:ln w="0">
            <a:noFill/>
          </a:ln>
        </p:spPr>
        <p:style>
          <a:lnRef idx="0"/>
          <a:fillRef idx="0"/>
          <a:effectRef idx="0"/>
          <a:fontRef idx="minor"/>
        </p:style>
        <p:txBody>
          <a:bodyPr lIns="0" tIns="0" rIns="0" bIns="0" anchor="t">
            <a:noAutofit/>
          </a:bodyPr>
          <a:p>
            <a:pPr defTabSz="914400">
              <a:lnSpc>
                <a:spcPts val="1312"/>
              </a:lnSpc>
              <a:tabLst>
                <a:tab pos="0" algn="l"/>
              </a:tabLst>
            </a:pPr>
            <a:r>
              <a:rPr lang="es-CL" sz="1050" b="0" u="none" strike="noStrike">
                <a:solidFill>
                  <a:srgbClr val="8893A0"/>
                </a:solidFill>
                <a:effectLst/>
                <a:uFillTx/>
                <a:latin typeface="Calibri"/>
                <a:ea typeface="Calibri"/>
              </a:rPr>
              <a:t>Mapas de riesgo para decidir dónde poner radares y, más adelante, avisos con horas de anticipación.</a:t>
            </a:r>
            <a:endParaRPr lang="es-CL" sz="1050" b="0" u="none" strike="noStrike">
              <a:solidFill>
                <a:srgbClr val="000000"/>
              </a:solidFill>
              <a:effectLst/>
              <a:uFillTx/>
              <a:latin typeface="Arial"/>
            </a:endParaRPr>
          </a:p>
        </p:txBody>
      </p:sp>
      <p:sp>
        <p:nvSpPr>
          <p:cNvPr id="101" name="Shape 16"/>
          <p:cNvSpPr/>
          <p:nvPr/>
        </p:nvSpPr>
        <p:spPr>
          <a:xfrm>
            <a:off x="548640" y="4343400"/>
            <a:ext cx="11109600" cy="1691280"/>
          </a:xfrm>
          <a:prstGeom prst="roundRect">
            <a:avLst>
              <a:gd name="adj" fmla="val 3784"/>
            </a:avLst>
          </a:prstGeom>
          <a:solidFill>
            <a:srgbClr val="232F3E"/>
          </a:solidFill>
          <a:ln w="0">
            <a:noFill/>
          </a:ln>
          <a:effectLst>
            <a:outerShdw algn="bl" blurRad="88920" dir="8100000" dist="37674" rotWithShape="0">
              <a:srgbClr val="000000">
                <a:alpha val="14000"/>
              </a:srgbClr>
            </a:outerShdw>
          </a:effectLst>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02" name="Text 17"/>
          <p:cNvSpPr/>
          <p:nvPr/>
        </p:nvSpPr>
        <p:spPr>
          <a:xfrm>
            <a:off x="822960" y="4526280"/>
            <a:ext cx="3017160" cy="1325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s-CL" sz="5400" b="1" u="none" strike="noStrike">
                <a:solidFill>
                  <a:srgbClr val="FF9900"/>
                </a:solidFill>
                <a:effectLst/>
                <a:uFillTx/>
                <a:latin typeface="Trebuchet MS"/>
                <a:ea typeface="Trebuchet MS"/>
              </a:rPr>
              <a:t>30 %</a:t>
            </a:r>
            <a:endParaRPr lang="es-CL" sz="5400" b="0" u="none" strike="noStrike">
              <a:solidFill>
                <a:srgbClr val="000000"/>
              </a:solidFill>
              <a:effectLst/>
              <a:uFillTx/>
              <a:latin typeface="Arial"/>
            </a:endParaRPr>
          </a:p>
        </p:txBody>
      </p:sp>
      <p:sp>
        <p:nvSpPr>
          <p:cNvPr id="103" name="Shape 18"/>
          <p:cNvSpPr/>
          <p:nvPr/>
        </p:nvSpPr>
        <p:spPr>
          <a:xfrm>
            <a:off x="3931920" y="4663440"/>
            <a:ext cx="18000" cy="1051200"/>
          </a:xfrm>
          <a:prstGeom prst="rect">
            <a:avLst/>
          </a:prstGeom>
          <a:solidFill>
            <a:srgbClr val="3A465A"/>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04" name="Text 19"/>
          <p:cNvSpPr/>
          <p:nvPr/>
        </p:nvSpPr>
        <p:spPr>
          <a:xfrm>
            <a:off x="4206240" y="4663440"/>
            <a:ext cx="722340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s-CL" sz="1700" b="1" u="none" strike="noStrike">
                <a:solidFill>
                  <a:srgbClr val="FFFFFF"/>
                </a:solidFill>
                <a:effectLst/>
                <a:uFillTx/>
                <a:latin typeface="Trebuchet MS"/>
                <a:ea typeface="Trebuchet MS"/>
              </a:rPr>
              <a:t>De la población vive en la zona expuesta</a:t>
            </a:r>
            <a:endParaRPr lang="es-CL" sz="1700" b="0" u="none" strike="noStrike">
              <a:solidFill>
                <a:srgbClr val="000000"/>
              </a:solidFill>
              <a:effectLst/>
              <a:uFillTx/>
              <a:latin typeface="Arial"/>
            </a:endParaRPr>
          </a:p>
        </p:txBody>
      </p:sp>
      <p:sp>
        <p:nvSpPr>
          <p:cNvPr id="105" name="Text 20"/>
          <p:cNvSpPr/>
          <p:nvPr/>
        </p:nvSpPr>
        <p:spPr>
          <a:xfrm>
            <a:off x="4206240" y="5166360"/>
            <a:ext cx="7223400" cy="822600"/>
          </a:xfrm>
          <a:prstGeom prst="rect">
            <a:avLst/>
          </a:prstGeom>
          <a:noFill/>
          <a:ln w="0">
            <a:noFill/>
          </a:ln>
        </p:spPr>
        <p:style>
          <a:lnRef idx="0"/>
          <a:fillRef idx="0"/>
          <a:effectRef idx="0"/>
          <a:fontRef idx="minor"/>
        </p:style>
        <p:txBody>
          <a:bodyPr lIns="0" tIns="0" rIns="0" bIns="0" anchor="t">
            <a:noAutofit/>
          </a:bodyPr>
          <a:p>
            <a:pPr defTabSz="914400">
              <a:lnSpc>
                <a:spcPts val="1559"/>
              </a:lnSpc>
              <a:tabLst>
                <a:tab pos="0" algn="l"/>
              </a:tabLst>
            </a:pPr>
            <a:r>
              <a:rPr lang="es-CL" sz="1200" b="0" u="none" strike="noStrike">
                <a:solidFill>
                  <a:srgbClr val="9FB0C3"/>
                </a:solidFill>
                <a:effectLst/>
                <a:uFillTx/>
                <a:latin typeface="Calibri"/>
                <a:ea typeface="Calibri"/>
              </a:rPr>
              <a:t>5,5 millones de personas viven entre el Maule y Los Lagos, donde se concentran los tornados reportados y los entornos favorables (Marín et al., 2024). </a:t>
            </a:r>
            <a:endParaRPr lang="es-CL" sz="1200" b="0" u="none" strike="noStrike">
              <a:solidFill>
                <a:srgbClr val="000000"/>
              </a:solidFill>
              <a:effectLst/>
              <a:uFillTx/>
              <a:latin typeface="Arial"/>
            </a:endParaRPr>
          </a:p>
          <a:p>
            <a:pPr defTabSz="914400">
              <a:lnSpc>
                <a:spcPts val="1559"/>
              </a:lnSpc>
              <a:tabLst>
                <a:tab pos="0" algn="l"/>
              </a:tabLst>
            </a:pPr>
            <a:r>
              <a:rPr lang="es-CL" sz="1200" b="0" u="none" strike="noStrike">
                <a:solidFill>
                  <a:srgbClr val="9FB0C3"/>
                </a:solidFill>
                <a:effectLst/>
                <a:uFillTx/>
                <a:latin typeface="Calibri"/>
                <a:ea typeface="Calibri"/>
              </a:rPr>
              <a:t>Incluye Concepción, Talcahuano y Los Ángeles, las ciudades golpeadas en 2019 (Censo 2024, INE).</a:t>
            </a:r>
            <a:endParaRPr lang="es-CL" sz="1200" b="0" u="none" strike="noStrike">
              <a:solidFill>
                <a:srgbClr val="000000"/>
              </a:solidFill>
              <a:effectLst/>
              <a:uFillTx/>
              <a:latin typeface="Arial"/>
            </a:endParaRPr>
          </a:p>
        </p:txBody>
      </p:sp>
      <p:sp>
        <p:nvSpPr>
          <p:cNvPr id="106" name="Text 21"/>
          <p:cNvSpPr/>
          <p:nvPr/>
        </p:nvSpPr>
        <p:spPr>
          <a:xfrm>
            <a:off x="548640" y="6437520"/>
            <a:ext cx="8229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s-CL" sz="900" b="1" u="none" strike="noStrike">
                <a:solidFill>
                  <a:srgbClr val="5A6472"/>
                </a:solidFill>
                <a:effectLst/>
                <a:uFillTx/>
                <a:latin typeface="Calibri"/>
                <a:ea typeface="Calibri"/>
              </a:rPr>
              <a:t>AWS Breaking Barriers Chile 2026</a:t>
            </a:r>
            <a:r>
              <a:rPr lang="es-CL" sz="900" b="0" u="none" strike="noStrike">
                <a:solidFill>
                  <a:srgbClr val="5A6472"/>
                </a:solidFill>
                <a:effectLst/>
                <a:uFillTx/>
                <a:latin typeface="Calibri"/>
                <a:ea typeface="Calibri"/>
              </a:rPr>
              <a:t>   |   Desafío CR2 · Universidad de Chile</a:t>
            </a:r>
            <a:endParaRPr lang="es-CL" sz="900" b="0" u="none" strike="noStrike">
              <a:solidFill>
                <a:srgbClr val="000000"/>
              </a:solidFill>
              <a:effectLst/>
              <a:uFillTx/>
              <a:latin typeface="Arial"/>
            </a:endParaRPr>
          </a:p>
        </p:txBody>
      </p:sp>
      <p:sp>
        <p:nvSpPr>
          <p:cNvPr id="107" name="Text 22"/>
          <p:cNvSpPr/>
          <p:nvPr/>
        </p:nvSpPr>
        <p:spPr>
          <a:xfrm>
            <a:off x="11338560" y="6437520"/>
            <a:ext cx="36540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s-CL" sz="900" b="0" u="none" strike="noStrike">
                <a:solidFill>
                  <a:srgbClr val="5A6472"/>
                </a:solidFill>
                <a:effectLst/>
                <a:uFillTx/>
                <a:latin typeface="Calibri"/>
                <a:ea typeface="Calibri"/>
              </a:rPr>
              <a:t>4</a:t>
            </a:r>
            <a:endParaRPr lang="es-CL"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8"/>
        </a:solidFill>
      </p:bgPr>
    </p:bg>
    <p:spTree>
      <p:nvGrpSpPr>
        <p:cNvPr id="1" name=""/>
        <p:cNvGrpSpPr/>
        <p:nvPr/>
      </p:nvGrpSpPr>
      <p:grpSpPr>
        <a:xfrm>
          <a:off x="0" y="0"/>
          <a:ext cx="0" cy="0"/>
          <a:chOff x="0" y="0"/>
          <a:chExt cx="0" cy="0"/>
        </a:xfrm>
      </p:grpSpPr>
      <p:sp>
        <p:nvSpPr>
          <p:cNvPr id="108" name="Shape 0"/>
          <p:cNvSpPr/>
          <p:nvPr/>
        </p:nvSpPr>
        <p:spPr>
          <a:xfrm>
            <a:off x="0" y="0"/>
            <a:ext cx="12191400" cy="109440"/>
          </a:xfrm>
          <a:prstGeom prst="rect">
            <a:avLst/>
          </a:prstGeom>
          <a:solidFill>
            <a:srgbClr val="00A1C9"/>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09" name="Text 1"/>
          <p:cNvSpPr/>
          <p:nvPr/>
        </p:nvSpPr>
        <p:spPr>
          <a:xfrm>
            <a:off x="548640" y="384120"/>
            <a:ext cx="914364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s-CL" sz="1200" b="1" u="none" spc="201" strike="noStrike">
                <a:solidFill>
                  <a:srgbClr val="00A1C9"/>
                </a:solidFill>
                <a:effectLst/>
                <a:uFillTx/>
                <a:latin typeface="Trebuchet MS"/>
                <a:ea typeface="Trebuchet MS"/>
              </a:rPr>
              <a:t>ACTO 2  ·  QUÉ SE RESUELVE Y HASTA DÓNDE CRECE</a:t>
            </a:r>
            <a:endParaRPr lang="es-CL" sz="1200" b="0" u="none" strike="noStrike">
              <a:solidFill>
                <a:srgbClr val="000000"/>
              </a:solidFill>
              <a:effectLst/>
              <a:uFillTx/>
              <a:latin typeface="Arial"/>
            </a:endParaRPr>
          </a:p>
        </p:txBody>
      </p:sp>
      <p:sp>
        <p:nvSpPr>
          <p:cNvPr id="110" name="Text 2"/>
          <p:cNvSpPr/>
          <p:nvPr/>
        </p:nvSpPr>
        <p:spPr>
          <a:xfrm>
            <a:off x="548640" y="676800"/>
            <a:ext cx="1106388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232F3E"/>
                </a:solidFill>
                <a:effectLst/>
                <a:uFillTx/>
                <a:latin typeface="Trebuchet MS"/>
                <a:ea typeface="Trebuchet MS"/>
              </a:rPr>
              <a:t>Impacto y escalabilidad</a:t>
            </a:r>
            <a:endParaRPr lang="es-CL" sz="2800" b="0" u="none" strike="noStrike">
              <a:solidFill>
                <a:srgbClr val="000000"/>
              </a:solidFill>
              <a:effectLst/>
              <a:uFillTx/>
              <a:latin typeface="Arial"/>
            </a:endParaRPr>
          </a:p>
        </p:txBody>
      </p:sp>
      <p:sp>
        <p:nvSpPr>
          <p:cNvPr id="111" name="Shape 3"/>
          <p:cNvSpPr/>
          <p:nvPr/>
        </p:nvSpPr>
        <p:spPr>
          <a:xfrm>
            <a:off x="567000" y="1389960"/>
            <a:ext cx="1371240" cy="40680"/>
          </a:xfrm>
          <a:prstGeom prst="rect">
            <a:avLst/>
          </a:prstGeom>
          <a:solidFill>
            <a:srgbClr val="00A1C9"/>
          </a:solidFill>
          <a:ln w="0">
            <a:noFill/>
          </a:ln>
        </p:spPr>
        <p:style>
          <a:lnRef idx="0"/>
          <a:fillRef idx="0"/>
          <a:effectRef idx="0"/>
          <a:fontRef idx="minor"/>
        </p:style>
        <p:txBody>
          <a:bodyPr lIns="90000" tIns="-3960" rIns="90000" bIns="-3960" anchor="t">
            <a:noAutofit/>
          </a:bodyPr>
          <a:p>
            <a:endParaRPr lang="en-US" sz="1800" b="0" u="none" strike="noStrike">
              <a:solidFill>
                <a:schemeClr val="dk1"/>
              </a:solidFill>
              <a:effectLst/>
              <a:uFillTx/>
              <a:latin typeface="Calibri"/>
            </a:endParaRPr>
          </a:p>
        </p:txBody>
      </p:sp>
      <p:sp>
        <p:nvSpPr>
          <p:cNvPr id="112" name="Shape 4"/>
          <p:cNvSpPr/>
          <p:nvPr/>
        </p:nvSpPr>
        <p:spPr>
          <a:xfrm>
            <a:off x="548640" y="1783080"/>
            <a:ext cx="5486040" cy="3657240"/>
          </a:xfrm>
          <a:prstGeom prst="roundRect">
            <a:avLst>
              <a:gd name="adj" fmla="val 1500"/>
            </a:avLst>
          </a:prstGeom>
          <a:solidFill>
            <a:srgbClr val="FFFFFF"/>
          </a:solidFill>
          <a:ln w="12700">
            <a:solidFill>
              <a:srgbClr val="E3E8EE"/>
            </a:solidFill>
            <a:round/>
          </a:ln>
          <a:effectLst>
            <a:outerShdw algn="bl" blurRad="88920" dir="8100000" dist="37674" rotWithShape="0">
              <a:srgbClr val="000000">
                <a:alpha val="14000"/>
              </a:srgbClr>
            </a:outerShdw>
          </a:effectLst>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3" name="Shape 5"/>
          <p:cNvSpPr/>
          <p:nvPr/>
        </p:nvSpPr>
        <p:spPr>
          <a:xfrm>
            <a:off x="548640" y="1783080"/>
            <a:ext cx="5486040" cy="685440"/>
          </a:xfrm>
          <a:prstGeom prst="roundRect">
            <a:avLst>
              <a:gd name="adj" fmla="val 8000"/>
            </a:avLst>
          </a:prstGeom>
          <a:solidFill>
            <a:srgbClr val="FF9900"/>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4" name="Shape 6"/>
          <p:cNvSpPr/>
          <p:nvPr/>
        </p:nvSpPr>
        <p:spPr>
          <a:xfrm>
            <a:off x="548640" y="2148840"/>
            <a:ext cx="5486040" cy="319680"/>
          </a:xfrm>
          <a:prstGeom prst="rect">
            <a:avLst/>
          </a:prstGeom>
          <a:solidFill>
            <a:srgbClr val="FF9900"/>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pic>
        <p:nvPicPr>
          <p:cNvPr id="115" name="Image 0" descr="icon_nmpf9dgv27h.svg"/>
          <p:cNvPicPr/>
          <p:nvPr/>
        </p:nvPicPr>
        <p:blipFill>
          <a:blip r:embed="rId1">
            <a:extLst>
              <a:ext uri="{96DAC541-7B7A-43D3-8B79-37D633B846F1}">
                <asvg:svgBlip xmlns:asvg="http://schemas.microsoft.com/office/drawing/2016/SVG/main" r:embed="rId2"/>
              </a:ext>
            </a:extLst>
          </a:blip>
          <a:stretch/>
        </p:blipFill>
        <p:spPr>
          <a:xfrm>
            <a:off x="777240" y="1920240"/>
            <a:ext cx="383760" cy="383760"/>
          </a:xfrm>
          <a:prstGeom prst="rect">
            <a:avLst/>
          </a:prstGeom>
          <a:noFill/>
          <a:ln w="0">
            <a:noFill/>
          </a:ln>
        </p:spPr>
      </p:pic>
      <p:sp>
        <p:nvSpPr>
          <p:cNvPr id="116" name="Text 7"/>
          <p:cNvSpPr/>
          <p:nvPr/>
        </p:nvSpPr>
        <p:spPr>
          <a:xfrm>
            <a:off x="1280160" y="1783080"/>
            <a:ext cx="466308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s-CL" sz="1600" b="1" u="none" strike="noStrike">
                <a:solidFill>
                  <a:srgbClr val="232F3E"/>
                </a:solidFill>
                <a:effectLst/>
                <a:uFillTx/>
                <a:latin typeface="Trebuchet MS"/>
                <a:ea typeface="Trebuchet MS"/>
              </a:rPr>
              <a:t>Qué resolvemos AHORA</a:t>
            </a:r>
            <a:endParaRPr lang="es-CL" sz="1600" b="0" u="none" strike="noStrike">
              <a:solidFill>
                <a:srgbClr val="000000"/>
              </a:solidFill>
              <a:effectLst/>
              <a:uFillTx/>
              <a:latin typeface="Arial"/>
            </a:endParaRPr>
          </a:p>
        </p:txBody>
      </p:sp>
      <p:sp>
        <p:nvSpPr>
          <p:cNvPr id="117" name="Text 8"/>
          <p:cNvSpPr/>
          <p:nvPr/>
        </p:nvSpPr>
        <p:spPr>
          <a:xfrm>
            <a:off x="868680" y="2697480"/>
            <a:ext cx="4845960" cy="2559960"/>
          </a:xfrm>
          <a:prstGeom prst="rect">
            <a:avLst/>
          </a:prstGeom>
          <a:noFill/>
          <a:ln w="0">
            <a:noFill/>
          </a:ln>
        </p:spPr>
        <p:style>
          <a:lnRef idx="0"/>
          <a:fillRef idx="0"/>
          <a:effectRef idx="0"/>
          <a:fontRef idx="minor"/>
        </p:style>
        <p:txBody>
          <a:bodyPr lIns="0" tIns="0" rIns="0" bIns="0" anchor="t">
            <a:noAutofit/>
          </a:bodyPr>
          <a:p>
            <a:pPr defTabSz="914400">
              <a:lnSpc>
                <a:spcPts val="1624"/>
              </a:lnSpc>
              <a:tabLst>
                <a:tab pos="0" algn="l"/>
              </a:tabLst>
            </a:pPr>
            <a:r>
              <a:rPr lang="es-CL" sz="1300" b="0" u="none" strike="noStrike">
                <a:solidFill>
                  <a:srgbClr val="8893A0"/>
                </a:solidFill>
                <a:effectLst/>
                <a:uFillTx/>
                <a:latin typeface="Calibri"/>
                <a:ea typeface="Calibri"/>
              </a:rPr>
              <a:t>Hoy un tornado existe solo si alguien lo ve. Y los índices que se usan en EE.UU. no habrían marcado el brote de 2019.</a:t>
            </a:r>
            <a:endParaRPr lang="es-CL" sz="1300" b="0" u="none" strike="noStrike">
              <a:solidFill>
                <a:srgbClr val="000000"/>
              </a:solidFill>
              <a:effectLst/>
              <a:uFillTx/>
              <a:latin typeface="Arial"/>
            </a:endParaRPr>
          </a:p>
          <a:p>
            <a:pPr defTabSz="914400">
              <a:lnSpc>
                <a:spcPts val="1624"/>
              </a:lnSpc>
              <a:tabLst>
                <a:tab pos="0" algn="l"/>
              </a:tabLst>
            </a:pPr>
            <a:endParaRPr lang="es-CL" sz="1300" b="0" u="none" strike="noStrike">
              <a:solidFill>
                <a:srgbClr val="000000"/>
              </a:solidFill>
              <a:effectLst/>
              <a:uFillTx/>
              <a:latin typeface="Arial"/>
            </a:endParaRPr>
          </a:p>
          <a:p>
            <a:pPr defTabSz="914400">
              <a:lnSpc>
                <a:spcPts val="1624"/>
              </a:lnSpc>
              <a:tabLst>
                <a:tab pos="0" algn="l"/>
              </a:tabLst>
            </a:pPr>
            <a:r>
              <a:rPr lang="es-CL" sz="1300" b="0" u="none" strike="noStrike">
                <a:solidFill>
                  <a:srgbClr val="8893A0"/>
                </a:solidFill>
                <a:effectLst/>
                <a:uFillTx/>
                <a:latin typeface="Calibri"/>
                <a:ea typeface="Calibri"/>
              </a:rPr>
              <a:t>Con el modelo, cada tormenta de 2026 tendrá un puntaje que dice qué tan probable es que haya formado un mesociclón. Así el CR2 puede partir revisando las más sospechosas, sin esperar a que alguien las reporte.</a:t>
            </a:r>
            <a:endParaRPr lang="es-CL" sz="1300" b="0" u="none" strike="noStrike">
              <a:solidFill>
                <a:srgbClr val="000000"/>
              </a:solidFill>
              <a:effectLst/>
              <a:uFillTx/>
              <a:latin typeface="Arial"/>
            </a:endParaRPr>
          </a:p>
          <a:p>
            <a:pPr defTabSz="914400">
              <a:lnSpc>
                <a:spcPts val="1624"/>
              </a:lnSpc>
              <a:tabLst>
                <a:tab pos="0" algn="l"/>
              </a:tabLst>
            </a:pPr>
            <a:endParaRPr lang="es-CL" sz="1300" b="0" u="none" strike="noStrike">
              <a:solidFill>
                <a:srgbClr val="000000"/>
              </a:solidFill>
              <a:effectLst/>
              <a:uFillTx/>
              <a:latin typeface="Arial"/>
            </a:endParaRPr>
          </a:p>
          <a:p>
            <a:pPr defTabSz="914400">
              <a:lnSpc>
                <a:spcPts val="1624"/>
              </a:lnSpc>
              <a:tabLst>
                <a:tab pos="0" algn="l"/>
              </a:tabLst>
            </a:pPr>
            <a:r>
              <a:rPr lang="es-CL" sz="1300" b="0" u="none" strike="noStrike">
                <a:solidFill>
                  <a:srgbClr val="8893A0"/>
                </a:solidFill>
                <a:effectLst/>
                <a:uFillTx/>
                <a:latin typeface="Calibri"/>
                <a:ea typeface="Calibri"/>
              </a:rPr>
              <a:t>Desde el primer día los equipos tienen el visor, los scripts para bajar ERA5 y GOES, y el código de los índices ajustados al hemisferio sur.</a:t>
            </a:r>
            <a:endParaRPr lang="es-CL" sz="1300" b="0" u="none" strike="noStrike">
              <a:solidFill>
                <a:srgbClr val="000000"/>
              </a:solidFill>
              <a:effectLst/>
              <a:uFillTx/>
              <a:latin typeface="Arial"/>
            </a:endParaRPr>
          </a:p>
        </p:txBody>
      </p:sp>
      <p:sp>
        <p:nvSpPr>
          <p:cNvPr id="118" name="Shape 9"/>
          <p:cNvSpPr/>
          <p:nvPr/>
        </p:nvSpPr>
        <p:spPr>
          <a:xfrm>
            <a:off x="6172200" y="1783080"/>
            <a:ext cx="5486040" cy="3657240"/>
          </a:xfrm>
          <a:prstGeom prst="roundRect">
            <a:avLst>
              <a:gd name="adj" fmla="val 1500"/>
            </a:avLst>
          </a:prstGeom>
          <a:solidFill>
            <a:srgbClr val="232F3E"/>
          </a:solidFill>
          <a:ln w="0">
            <a:noFill/>
          </a:ln>
          <a:effectLst>
            <a:outerShdw algn="bl" blurRad="88920" dir="8100000" dist="37674" rotWithShape="0">
              <a:srgbClr val="000000">
                <a:alpha val="14000"/>
              </a:srgbClr>
            </a:outerShdw>
          </a:effectLst>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19" name="Shape 10"/>
          <p:cNvSpPr/>
          <p:nvPr/>
        </p:nvSpPr>
        <p:spPr>
          <a:xfrm>
            <a:off x="6172200" y="1783080"/>
            <a:ext cx="5486040" cy="685440"/>
          </a:xfrm>
          <a:prstGeom prst="roundRect">
            <a:avLst>
              <a:gd name="adj" fmla="val 8000"/>
            </a:avLst>
          </a:prstGeom>
          <a:solidFill>
            <a:srgbClr val="00A1C9"/>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20" name="Shape 11"/>
          <p:cNvSpPr/>
          <p:nvPr/>
        </p:nvSpPr>
        <p:spPr>
          <a:xfrm>
            <a:off x="6172200" y="2148840"/>
            <a:ext cx="5486040" cy="319680"/>
          </a:xfrm>
          <a:prstGeom prst="rect">
            <a:avLst/>
          </a:prstGeom>
          <a:solidFill>
            <a:srgbClr val="00A1C9"/>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pic>
        <p:nvPicPr>
          <p:cNvPr id="121" name="Image 1" descr="icon_p66ak8retic.svg"/>
          <p:cNvPicPr/>
          <p:nvPr/>
        </p:nvPicPr>
        <p:blipFill>
          <a:blip r:embed="rId3">
            <a:extLst>
              <a:ext uri="{96DAC541-7B7A-43D3-8B79-37D633B846F1}">
                <asvg:svgBlip xmlns:asvg="http://schemas.microsoft.com/office/drawing/2016/SVG/main" r:embed="rId4"/>
              </a:ext>
            </a:extLst>
          </a:blip>
          <a:stretch/>
        </p:blipFill>
        <p:spPr>
          <a:xfrm>
            <a:off x="6400800" y="1920240"/>
            <a:ext cx="383760" cy="383760"/>
          </a:xfrm>
          <a:prstGeom prst="rect">
            <a:avLst/>
          </a:prstGeom>
          <a:noFill/>
          <a:ln w="0">
            <a:noFill/>
          </a:ln>
        </p:spPr>
      </p:pic>
      <p:sp>
        <p:nvSpPr>
          <p:cNvPr id="122" name="Text 12"/>
          <p:cNvSpPr/>
          <p:nvPr/>
        </p:nvSpPr>
        <p:spPr>
          <a:xfrm>
            <a:off x="6903720" y="1783080"/>
            <a:ext cx="466308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s-CL" sz="1600" b="1" u="none" strike="noStrike">
                <a:solidFill>
                  <a:srgbClr val="FFFFFF"/>
                </a:solidFill>
                <a:effectLst/>
                <a:uFillTx/>
                <a:latin typeface="Trebuchet MS"/>
                <a:ea typeface="Trebuchet MS"/>
              </a:rPr>
              <a:t>Hasta dónde PUEDE llegar</a:t>
            </a:r>
            <a:endParaRPr lang="es-CL" sz="1600" b="0" u="none" strike="noStrike">
              <a:solidFill>
                <a:srgbClr val="000000"/>
              </a:solidFill>
              <a:effectLst/>
              <a:uFillTx/>
              <a:latin typeface="Arial"/>
            </a:endParaRPr>
          </a:p>
        </p:txBody>
      </p:sp>
      <p:pic>
        <p:nvPicPr>
          <p:cNvPr id="123" name="Image 2" descr="icon_dffe8dnollk.svg"/>
          <p:cNvPicPr/>
          <p:nvPr/>
        </p:nvPicPr>
        <p:blipFill>
          <a:blip r:embed="rId5">
            <a:extLst>
              <a:ext uri="{96DAC541-7B7A-43D3-8B79-37D633B846F1}">
                <asvg:svgBlip xmlns:asvg="http://schemas.microsoft.com/office/drawing/2016/SVG/main" r:embed="rId6"/>
              </a:ext>
            </a:extLst>
          </a:blip>
          <a:stretch/>
        </p:blipFill>
        <p:spPr>
          <a:xfrm>
            <a:off x="6446520" y="2788920"/>
            <a:ext cx="273960" cy="273960"/>
          </a:xfrm>
          <a:prstGeom prst="rect">
            <a:avLst/>
          </a:prstGeom>
          <a:noFill/>
          <a:ln w="0">
            <a:noFill/>
          </a:ln>
        </p:spPr>
      </p:pic>
      <p:sp>
        <p:nvSpPr>
          <p:cNvPr id="124" name="Text 13"/>
          <p:cNvSpPr/>
          <p:nvPr/>
        </p:nvSpPr>
        <p:spPr>
          <a:xfrm>
            <a:off x="6858000" y="2743200"/>
            <a:ext cx="4480200" cy="776880"/>
          </a:xfrm>
          <a:prstGeom prst="rect">
            <a:avLst/>
          </a:prstGeom>
          <a:noFill/>
          <a:ln w="0">
            <a:noFill/>
          </a:ln>
        </p:spPr>
        <p:style>
          <a:lnRef idx="0"/>
          <a:fillRef idx="0"/>
          <a:effectRef idx="0"/>
          <a:fontRef idx="minor"/>
        </p:style>
        <p:txBody>
          <a:bodyPr lIns="0" tIns="0" rIns="0" bIns="0" anchor="t">
            <a:noAutofit/>
          </a:bodyPr>
          <a:p>
            <a:pPr defTabSz="914400">
              <a:lnSpc>
                <a:spcPts val="1500"/>
              </a:lnSpc>
              <a:tabLst>
                <a:tab pos="0" algn="l"/>
              </a:tabLst>
            </a:pPr>
            <a:r>
              <a:rPr lang="es-CL" sz="1250" b="0" u="none" strike="noStrike">
                <a:solidFill>
                  <a:srgbClr val="E6ECF3"/>
                </a:solidFill>
                <a:effectLst/>
                <a:uFillTx/>
                <a:latin typeface="Calibri"/>
                <a:ea typeface="Calibri"/>
              </a:rPr>
              <a:t>Replicable en: DMC y SENAPRED en Chile; SENAMHI (Perú), SMN (Argentina) e INUMET (Uruguay) con los mismos datos GOES.</a:t>
            </a:r>
            <a:endParaRPr lang="es-CL" sz="1250" b="0" u="none" strike="noStrike">
              <a:solidFill>
                <a:srgbClr val="000000"/>
              </a:solidFill>
              <a:effectLst/>
              <a:uFillTx/>
              <a:latin typeface="Arial"/>
            </a:endParaRPr>
          </a:p>
        </p:txBody>
      </p:sp>
      <p:pic>
        <p:nvPicPr>
          <p:cNvPr id="125" name="Image 3" descr="icon_tt5ua2yny8n.svg"/>
          <p:cNvPicPr/>
          <p:nvPr/>
        </p:nvPicPr>
        <p:blipFill>
          <a:blip r:embed="rId7">
            <a:extLst>
              <a:ext uri="{96DAC541-7B7A-43D3-8B79-37D633B846F1}">
                <asvg:svgBlip xmlns:asvg="http://schemas.microsoft.com/office/drawing/2016/SVG/main" r:embed="rId8"/>
              </a:ext>
            </a:extLst>
          </a:blip>
          <a:stretch/>
        </p:blipFill>
        <p:spPr>
          <a:xfrm>
            <a:off x="6446520" y="3657600"/>
            <a:ext cx="273960" cy="273960"/>
          </a:xfrm>
          <a:prstGeom prst="rect">
            <a:avLst/>
          </a:prstGeom>
          <a:noFill/>
          <a:ln w="0">
            <a:noFill/>
          </a:ln>
        </p:spPr>
      </p:pic>
      <p:sp>
        <p:nvSpPr>
          <p:cNvPr id="126" name="Text 14"/>
          <p:cNvSpPr/>
          <p:nvPr/>
        </p:nvSpPr>
        <p:spPr>
          <a:xfrm>
            <a:off x="6858000" y="3611880"/>
            <a:ext cx="4480200" cy="776880"/>
          </a:xfrm>
          <a:prstGeom prst="rect">
            <a:avLst/>
          </a:prstGeom>
          <a:noFill/>
          <a:ln w="0">
            <a:noFill/>
          </a:ln>
        </p:spPr>
        <p:style>
          <a:lnRef idx="0"/>
          <a:fillRef idx="0"/>
          <a:effectRef idx="0"/>
          <a:fontRef idx="minor"/>
        </p:style>
        <p:txBody>
          <a:bodyPr lIns="0" tIns="0" rIns="0" bIns="0" anchor="t">
            <a:noAutofit/>
          </a:bodyPr>
          <a:p>
            <a:pPr defTabSz="914400">
              <a:lnSpc>
                <a:spcPts val="1500"/>
              </a:lnSpc>
              <a:tabLst>
                <a:tab pos="0" algn="l"/>
              </a:tabLst>
            </a:pPr>
            <a:r>
              <a:rPr lang="es-CL" sz="1250" b="0" u="none" strike="noStrike">
                <a:solidFill>
                  <a:srgbClr val="E6ECF3"/>
                </a:solidFill>
                <a:effectLst/>
                <a:uFillTx/>
                <a:latin typeface="Calibri"/>
                <a:ea typeface="Calibri"/>
              </a:rPr>
              <a:t>Escalable a otras regiones: se cambia el recuadro y corre igual; hacia atrás, ERA5 cubre desde 1940.</a:t>
            </a:r>
            <a:endParaRPr lang="es-CL" sz="1250" b="0" u="none" strike="noStrike">
              <a:solidFill>
                <a:srgbClr val="000000"/>
              </a:solidFill>
              <a:effectLst/>
              <a:uFillTx/>
              <a:latin typeface="Arial"/>
            </a:endParaRPr>
          </a:p>
        </p:txBody>
      </p:sp>
      <p:pic>
        <p:nvPicPr>
          <p:cNvPr id="127" name="Image 4" descr="icon_hnsuyu1mjqi.svg"/>
          <p:cNvPicPr/>
          <p:nvPr/>
        </p:nvPicPr>
        <p:blipFill>
          <a:blip r:embed="rId9">
            <a:extLst>
              <a:ext uri="{96DAC541-7B7A-43D3-8B79-37D633B846F1}">
                <asvg:svgBlip xmlns:asvg="http://schemas.microsoft.com/office/drawing/2016/SVG/main" r:embed="rId10"/>
              </a:ext>
            </a:extLst>
          </a:blip>
          <a:stretch/>
        </p:blipFill>
        <p:spPr>
          <a:xfrm>
            <a:off x="6446520" y="4526280"/>
            <a:ext cx="273960" cy="273960"/>
          </a:xfrm>
          <a:prstGeom prst="rect">
            <a:avLst/>
          </a:prstGeom>
          <a:noFill/>
          <a:ln w="0">
            <a:noFill/>
          </a:ln>
        </p:spPr>
      </p:pic>
      <p:sp>
        <p:nvSpPr>
          <p:cNvPr id="128" name="Text 15"/>
          <p:cNvSpPr/>
          <p:nvPr/>
        </p:nvSpPr>
        <p:spPr>
          <a:xfrm>
            <a:off x="6858000" y="4480560"/>
            <a:ext cx="4480200" cy="776880"/>
          </a:xfrm>
          <a:prstGeom prst="rect">
            <a:avLst/>
          </a:prstGeom>
          <a:noFill/>
          <a:ln w="0">
            <a:noFill/>
          </a:ln>
        </p:spPr>
        <p:style>
          <a:lnRef idx="0"/>
          <a:fillRef idx="0"/>
          <a:effectRef idx="0"/>
          <a:fontRef idx="minor"/>
        </p:style>
        <p:txBody>
          <a:bodyPr lIns="0" tIns="0" rIns="0" bIns="0" anchor="t">
            <a:noAutofit/>
          </a:bodyPr>
          <a:p>
            <a:pPr defTabSz="914400">
              <a:lnSpc>
                <a:spcPts val="1500"/>
              </a:lnSpc>
              <a:tabLst>
                <a:tab pos="0" algn="l"/>
              </a:tabLst>
            </a:pPr>
            <a:r>
              <a:rPr lang="es-CL" sz="1250" b="0" u="none" strike="noStrike">
                <a:solidFill>
                  <a:srgbClr val="E6ECF3"/>
                </a:solidFill>
                <a:effectLst/>
                <a:uFillTx/>
                <a:latin typeface="Calibri"/>
                <a:ea typeface="Calibri"/>
              </a:rPr>
              <a:t>Efecto multiplicador: un catálogo con menos subregistro, umbrales calibrados para Chile y evidencia para instalar radares.</a:t>
            </a:r>
            <a:endParaRPr lang="es-CL" sz="1250" b="0" u="none" strike="noStrike">
              <a:solidFill>
                <a:srgbClr val="000000"/>
              </a:solidFill>
              <a:effectLst/>
              <a:uFillTx/>
              <a:latin typeface="Arial"/>
            </a:endParaRPr>
          </a:p>
        </p:txBody>
      </p:sp>
      <p:sp>
        <p:nvSpPr>
          <p:cNvPr id="129" name="Shape 16"/>
          <p:cNvSpPr/>
          <p:nvPr/>
        </p:nvSpPr>
        <p:spPr>
          <a:xfrm>
            <a:off x="548640" y="5577840"/>
            <a:ext cx="11109600" cy="658080"/>
          </a:xfrm>
          <a:prstGeom prst="roundRect">
            <a:avLst>
              <a:gd name="adj" fmla="val 8333"/>
            </a:avLst>
          </a:prstGeom>
          <a:solidFill>
            <a:srgbClr val="FFF4E0"/>
          </a:solidFill>
          <a:ln w="12700">
            <a:solidFill>
              <a:srgbClr val="FF9900"/>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pic>
        <p:nvPicPr>
          <p:cNvPr id="130" name="Image 5" descr="icon_n11uoc8pxb.svg"/>
          <p:cNvPicPr/>
          <p:nvPr/>
        </p:nvPicPr>
        <p:blipFill>
          <a:blip r:embed="rId11">
            <a:extLst>
              <a:ext uri="{96DAC541-7B7A-43D3-8B79-37D633B846F1}">
                <asvg:svgBlip xmlns:asvg="http://schemas.microsoft.com/office/drawing/2016/SVG/main" r:embed="rId12"/>
              </a:ext>
            </a:extLst>
          </a:blip>
          <a:stretch/>
        </p:blipFill>
        <p:spPr>
          <a:xfrm>
            <a:off x="676800" y="5706000"/>
            <a:ext cx="292320" cy="292320"/>
          </a:xfrm>
          <a:prstGeom prst="rect">
            <a:avLst/>
          </a:prstGeom>
          <a:noFill/>
          <a:ln w="0">
            <a:noFill/>
          </a:ln>
        </p:spPr>
      </p:pic>
      <p:sp>
        <p:nvSpPr>
          <p:cNvPr id="131" name="Text 17"/>
          <p:cNvSpPr/>
          <p:nvPr/>
        </p:nvSpPr>
        <p:spPr>
          <a:xfrm>
            <a:off x="1051560" y="5577840"/>
            <a:ext cx="10469520" cy="658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s-CL" sz="1050" b="1" u="none" strike="noStrike">
                <a:solidFill>
                  <a:srgbClr val="EC7211"/>
                </a:solidFill>
                <a:effectLst/>
                <a:uFillTx/>
                <a:latin typeface="Calibri"/>
                <a:ea typeface="Calibri"/>
              </a:rPr>
              <a:t>PERÚ  </a:t>
            </a:r>
            <a:r>
              <a:rPr lang="es-CL" sz="1050" b="0" u="none" strike="noStrike">
                <a:solidFill>
                  <a:srgbClr val="6B4A17"/>
                </a:solidFill>
                <a:effectLst/>
                <a:uFillTx/>
                <a:latin typeface="Calibri"/>
                <a:ea typeface="Calibri"/>
              </a:rPr>
              <a:t>Comparte con Chile el Pacífico, la corriente de Humboldt y el hemisferio. No encontramos estudios de tornados allí: sería el primer piloto fuera de Chile.</a:t>
            </a:r>
            <a:endParaRPr lang="es-CL" sz="1050" b="0" u="none" strike="noStrike">
              <a:solidFill>
                <a:srgbClr val="000000"/>
              </a:solidFill>
              <a:effectLst/>
              <a:uFillTx/>
              <a:latin typeface="Arial"/>
            </a:endParaRPr>
          </a:p>
        </p:txBody>
      </p:sp>
      <p:sp>
        <p:nvSpPr>
          <p:cNvPr id="132" name="Text 18"/>
          <p:cNvSpPr/>
          <p:nvPr/>
        </p:nvSpPr>
        <p:spPr>
          <a:xfrm>
            <a:off x="548640" y="6437520"/>
            <a:ext cx="8229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s-CL" sz="900" b="1" u="none" strike="noStrike">
                <a:solidFill>
                  <a:srgbClr val="5A6472"/>
                </a:solidFill>
                <a:effectLst/>
                <a:uFillTx/>
                <a:latin typeface="Calibri"/>
                <a:ea typeface="Calibri"/>
              </a:rPr>
              <a:t>AWS Breaking Barriers Chile 2026</a:t>
            </a:r>
            <a:r>
              <a:rPr lang="es-CL" sz="900" b="0" u="none" strike="noStrike">
                <a:solidFill>
                  <a:srgbClr val="5A6472"/>
                </a:solidFill>
                <a:effectLst/>
                <a:uFillTx/>
                <a:latin typeface="Calibri"/>
                <a:ea typeface="Calibri"/>
              </a:rPr>
              <a:t>   |   Desafío CR2 · Universidad de Chile</a:t>
            </a:r>
            <a:endParaRPr lang="es-CL" sz="900" b="0" u="none" strike="noStrike">
              <a:solidFill>
                <a:srgbClr val="000000"/>
              </a:solidFill>
              <a:effectLst/>
              <a:uFillTx/>
              <a:latin typeface="Arial"/>
            </a:endParaRPr>
          </a:p>
        </p:txBody>
      </p:sp>
      <p:sp>
        <p:nvSpPr>
          <p:cNvPr id="133" name="Text 19"/>
          <p:cNvSpPr/>
          <p:nvPr/>
        </p:nvSpPr>
        <p:spPr>
          <a:xfrm>
            <a:off x="11338560" y="6437520"/>
            <a:ext cx="36540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s-CL" sz="900" b="0" u="none" strike="noStrike">
                <a:solidFill>
                  <a:srgbClr val="5A6472"/>
                </a:solidFill>
                <a:effectLst/>
                <a:uFillTx/>
                <a:latin typeface="Calibri"/>
                <a:ea typeface="Calibri"/>
              </a:rPr>
              <a:t>5</a:t>
            </a:r>
            <a:endParaRPr lang="es-CL"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8"/>
        </a:solidFill>
      </p:bgPr>
    </p:bg>
    <p:spTree>
      <p:nvGrpSpPr>
        <p:cNvPr id="1" name=""/>
        <p:cNvGrpSpPr/>
        <p:nvPr/>
      </p:nvGrpSpPr>
      <p:grpSpPr>
        <a:xfrm>
          <a:off x="0" y="0"/>
          <a:ext cx="0" cy="0"/>
          <a:chOff x="0" y="0"/>
          <a:chExt cx="0" cy="0"/>
        </a:xfrm>
      </p:grpSpPr>
      <p:sp>
        <p:nvSpPr>
          <p:cNvPr id="134" name="Shape 0"/>
          <p:cNvSpPr/>
          <p:nvPr/>
        </p:nvSpPr>
        <p:spPr>
          <a:xfrm>
            <a:off x="0" y="0"/>
            <a:ext cx="12191400" cy="109440"/>
          </a:xfrm>
          <a:prstGeom prst="rect">
            <a:avLst/>
          </a:prstGeom>
          <a:solidFill>
            <a:srgbClr val="FF9900"/>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35" name="Text 1"/>
          <p:cNvSpPr/>
          <p:nvPr/>
        </p:nvSpPr>
        <p:spPr>
          <a:xfrm>
            <a:off x="548640" y="384120"/>
            <a:ext cx="914364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s-CL" sz="1200" b="1" u="none" spc="201" strike="noStrike">
                <a:solidFill>
                  <a:srgbClr val="FF9900"/>
                </a:solidFill>
                <a:effectLst/>
                <a:uFillTx/>
                <a:latin typeface="Trebuchet MS"/>
                <a:ea typeface="Trebuchet MS"/>
              </a:rPr>
              <a:t>ACTO 3  ·  CÓMO LO MEDIMOS</a:t>
            </a:r>
            <a:endParaRPr lang="es-CL" sz="1200" b="0" u="none" strike="noStrike">
              <a:solidFill>
                <a:srgbClr val="000000"/>
              </a:solidFill>
              <a:effectLst/>
              <a:uFillTx/>
              <a:latin typeface="Arial"/>
            </a:endParaRPr>
          </a:p>
        </p:txBody>
      </p:sp>
      <p:sp>
        <p:nvSpPr>
          <p:cNvPr id="136" name="Text 2"/>
          <p:cNvSpPr/>
          <p:nvPr/>
        </p:nvSpPr>
        <p:spPr>
          <a:xfrm>
            <a:off x="548640" y="676800"/>
            <a:ext cx="1106388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s-CL" sz="2800" b="1" u="none" strike="noStrike">
                <a:solidFill>
                  <a:srgbClr val="232F3E"/>
                </a:solidFill>
                <a:effectLst/>
                <a:uFillTx/>
                <a:latin typeface="Trebuchet MS"/>
                <a:ea typeface="Trebuchet MS"/>
              </a:rPr>
              <a:t>KPIs y métricas de éxito</a:t>
            </a:r>
            <a:endParaRPr lang="es-CL" sz="2800" b="0" u="none" strike="noStrike">
              <a:solidFill>
                <a:srgbClr val="000000"/>
              </a:solidFill>
              <a:effectLst/>
              <a:uFillTx/>
              <a:latin typeface="Arial"/>
            </a:endParaRPr>
          </a:p>
        </p:txBody>
      </p:sp>
      <p:sp>
        <p:nvSpPr>
          <p:cNvPr id="137" name="Shape 3"/>
          <p:cNvSpPr/>
          <p:nvPr/>
        </p:nvSpPr>
        <p:spPr>
          <a:xfrm>
            <a:off x="567000" y="1389960"/>
            <a:ext cx="1371240" cy="40680"/>
          </a:xfrm>
          <a:prstGeom prst="rect">
            <a:avLst/>
          </a:prstGeom>
          <a:solidFill>
            <a:srgbClr val="FF9900"/>
          </a:solidFill>
          <a:ln w="0">
            <a:noFill/>
          </a:ln>
        </p:spPr>
        <p:style>
          <a:lnRef idx="0"/>
          <a:fillRef idx="0"/>
          <a:effectRef idx="0"/>
          <a:fontRef idx="minor"/>
        </p:style>
        <p:txBody>
          <a:bodyPr lIns="90000" tIns="-3960" rIns="90000" bIns="-3960" anchor="t">
            <a:noAutofit/>
          </a:bodyPr>
          <a:p>
            <a:endParaRPr lang="en-US" sz="1800" b="0" u="none" strike="noStrike">
              <a:solidFill>
                <a:schemeClr val="dk1"/>
              </a:solidFill>
              <a:effectLst/>
              <a:uFillTx/>
              <a:latin typeface="Calibri"/>
            </a:endParaRPr>
          </a:p>
        </p:txBody>
      </p:sp>
      <p:sp>
        <p:nvSpPr>
          <p:cNvPr id="138" name="Shape 4"/>
          <p:cNvSpPr/>
          <p:nvPr/>
        </p:nvSpPr>
        <p:spPr>
          <a:xfrm>
            <a:off x="548640" y="1737360"/>
            <a:ext cx="11109600" cy="1234080"/>
          </a:xfrm>
          <a:prstGeom prst="roundRect">
            <a:avLst>
              <a:gd name="adj" fmla="val 4444"/>
            </a:avLst>
          </a:prstGeom>
          <a:solidFill>
            <a:srgbClr val="232F3E"/>
          </a:solidFill>
          <a:ln w="0">
            <a:noFill/>
          </a:ln>
          <a:effectLst>
            <a:outerShdw algn="bl" blurRad="88920" dir="8100000" dist="37674" rotWithShape="0">
              <a:srgbClr val="000000">
                <a:alpha val="14000"/>
              </a:srgbClr>
            </a:outerShdw>
          </a:effectLst>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pic>
        <p:nvPicPr>
          <p:cNvPr id="139" name="Image 0" descr="icon_4mu6okoqw6y.svg"/>
          <p:cNvPicPr/>
          <p:nvPr/>
        </p:nvPicPr>
        <p:blipFill>
          <a:blip r:embed="rId1">
            <a:extLst>
              <a:ext uri="{96DAC541-7B7A-43D3-8B79-37D633B846F1}">
                <asvg:svgBlip xmlns:asvg="http://schemas.microsoft.com/office/drawing/2016/SVG/main" r:embed="rId2"/>
              </a:ext>
            </a:extLst>
          </a:blip>
          <a:stretch/>
        </p:blipFill>
        <p:spPr>
          <a:xfrm>
            <a:off x="822960" y="2084760"/>
            <a:ext cx="548280" cy="548280"/>
          </a:xfrm>
          <a:prstGeom prst="rect">
            <a:avLst/>
          </a:prstGeom>
          <a:noFill/>
          <a:ln w="0">
            <a:noFill/>
          </a:ln>
        </p:spPr>
      </p:pic>
      <p:sp>
        <p:nvSpPr>
          <p:cNvPr id="140" name="Text 5"/>
          <p:cNvSpPr/>
          <p:nvPr/>
        </p:nvSpPr>
        <p:spPr>
          <a:xfrm>
            <a:off x="1508760" y="1874520"/>
            <a:ext cx="32000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pc="99" strike="noStrike">
                <a:solidFill>
                  <a:srgbClr val="FF9900"/>
                </a:solidFill>
                <a:effectLst/>
                <a:uFillTx/>
                <a:latin typeface="Trebuchet MS"/>
                <a:ea typeface="Trebuchet MS"/>
              </a:rPr>
              <a:t>KPI ESTRELLA</a:t>
            </a:r>
            <a:endParaRPr lang="es-CL" sz="1200" b="0" u="none" strike="noStrike">
              <a:solidFill>
                <a:srgbClr val="000000"/>
              </a:solidFill>
              <a:effectLst/>
              <a:uFillTx/>
              <a:latin typeface="Arial"/>
            </a:endParaRPr>
          </a:p>
        </p:txBody>
      </p:sp>
      <p:sp>
        <p:nvSpPr>
          <p:cNvPr id="141" name="Text 6"/>
          <p:cNvSpPr/>
          <p:nvPr/>
        </p:nvSpPr>
        <p:spPr>
          <a:xfrm>
            <a:off x="1508760" y="2212920"/>
            <a:ext cx="6949080" cy="639720"/>
          </a:xfrm>
          <a:prstGeom prst="rect">
            <a:avLst/>
          </a:prstGeom>
          <a:noFill/>
          <a:ln w="0">
            <a:noFill/>
          </a:ln>
        </p:spPr>
        <p:style>
          <a:lnRef idx="0"/>
          <a:fillRef idx="0"/>
          <a:effectRef idx="0"/>
          <a:fontRef idx="minor"/>
        </p:style>
        <p:txBody>
          <a:bodyPr lIns="0" tIns="0" rIns="0" bIns="0" anchor="t">
            <a:noAutofit/>
          </a:bodyPr>
          <a:p>
            <a:pPr defTabSz="914400">
              <a:lnSpc>
                <a:spcPts val="1599"/>
              </a:lnSpc>
              <a:tabLst>
                <a:tab pos="0" algn="l"/>
              </a:tabLst>
            </a:pPr>
            <a:r>
              <a:rPr lang="es-CL" sz="1350" b="0" u="none" strike="noStrike">
                <a:solidFill>
                  <a:srgbClr val="FFFFFF"/>
                </a:solidFill>
                <a:effectLst/>
                <a:uFillTx/>
                <a:latin typeface="Calibri"/>
                <a:ea typeface="Calibri"/>
              </a:rPr>
              <a:t>Detectar los tornados de 2026 de la base del CR2, que el modelo no vio al entrenar (probabilidad de detección, POD).</a:t>
            </a:r>
            <a:endParaRPr lang="es-CL" sz="1350" b="0" u="none" strike="noStrike">
              <a:solidFill>
                <a:srgbClr val="000000"/>
              </a:solidFill>
              <a:effectLst/>
              <a:uFillTx/>
              <a:latin typeface="Arial"/>
            </a:endParaRPr>
          </a:p>
        </p:txBody>
      </p:sp>
      <p:sp>
        <p:nvSpPr>
          <p:cNvPr id="142" name="Text 7"/>
          <p:cNvSpPr/>
          <p:nvPr/>
        </p:nvSpPr>
        <p:spPr>
          <a:xfrm>
            <a:off x="8778240" y="1828800"/>
            <a:ext cx="2742840" cy="10512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s-CL" sz="3000" b="1" u="none" strike="noStrike">
                <a:solidFill>
                  <a:srgbClr val="FF9900"/>
                </a:solidFill>
                <a:effectLst/>
                <a:uFillTx/>
                <a:latin typeface="Trebuchet MS"/>
                <a:ea typeface="Trebuchet MS"/>
              </a:rPr>
              <a:t>POD ≥ 70 %</a:t>
            </a:r>
            <a:endParaRPr lang="es-CL" sz="3000" b="0" u="none" strike="noStrike">
              <a:solidFill>
                <a:srgbClr val="000000"/>
              </a:solidFill>
              <a:effectLst/>
              <a:uFillTx/>
              <a:latin typeface="Arial"/>
            </a:endParaRPr>
          </a:p>
        </p:txBody>
      </p:sp>
      <p:sp>
        <p:nvSpPr>
          <p:cNvPr id="143" name="Shape 8"/>
          <p:cNvSpPr/>
          <p:nvPr/>
        </p:nvSpPr>
        <p:spPr>
          <a:xfrm>
            <a:off x="548640" y="3200400"/>
            <a:ext cx="3611520" cy="2331360"/>
          </a:xfrm>
          <a:prstGeom prst="roundRect">
            <a:avLst>
              <a:gd name="adj" fmla="val 2353"/>
            </a:avLst>
          </a:prstGeom>
          <a:solidFill>
            <a:srgbClr val="FFFFFF"/>
          </a:solidFill>
          <a:ln w="12700">
            <a:solidFill>
              <a:srgbClr val="E3E8EE"/>
            </a:solidFill>
            <a:round/>
          </a:ln>
          <a:effectLst>
            <a:outerShdw algn="bl" blurRad="88920" dir="8100000" dist="37674" rotWithShape="0">
              <a:srgbClr val="000000">
                <a:alpha val="14000"/>
              </a:srgbClr>
            </a:outerShdw>
          </a:effectLst>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pic>
        <p:nvPicPr>
          <p:cNvPr id="144" name="Image 1" descr="icon_lj9flz5am2d.svg"/>
          <p:cNvPicPr/>
          <p:nvPr/>
        </p:nvPicPr>
        <p:blipFill>
          <a:blip r:embed="rId3">
            <a:extLst>
              <a:ext uri="{96DAC541-7B7A-43D3-8B79-37D633B846F1}">
                <asvg:svgBlip xmlns:asvg="http://schemas.microsoft.com/office/drawing/2016/SVG/main" r:embed="rId4"/>
              </a:ext>
            </a:extLst>
          </a:blip>
          <a:stretch/>
        </p:blipFill>
        <p:spPr>
          <a:xfrm>
            <a:off x="868680" y="3474720"/>
            <a:ext cx="456840" cy="456840"/>
          </a:xfrm>
          <a:prstGeom prst="rect">
            <a:avLst/>
          </a:prstGeom>
          <a:noFill/>
          <a:ln w="0">
            <a:noFill/>
          </a:ln>
        </p:spPr>
      </p:pic>
      <p:sp>
        <p:nvSpPr>
          <p:cNvPr id="145" name="Text 9"/>
          <p:cNvSpPr/>
          <p:nvPr/>
        </p:nvSpPr>
        <p:spPr>
          <a:xfrm>
            <a:off x="1463040" y="3474720"/>
            <a:ext cx="25142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s-CL" sz="1500" b="1" u="none" strike="noStrike">
                <a:solidFill>
                  <a:srgbClr val="232F3E"/>
                </a:solidFill>
                <a:effectLst/>
                <a:uFillTx/>
                <a:latin typeface="Trebuchet MS"/>
                <a:ea typeface="Trebuchet MS"/>
              </a:rPr>
              <a:t>Detección (POD)</a:t>
            </a:r>
            <a:endParaRPr lang="es-CL" sz="1500" b="0" u="none" strike="noStrike">
              <a:solidFill>
                <a:srgbClr val="000000"/>
              </a:solidFill>
              <a:effectLst/>
              <a:uFillTx/>
              <a:latin typeface="Arial"/>
            </a:endParaRPr>
          </a:p>
        </p:txBody>
      </p:sp>
      <p:sp>
        <p:nvSpPr>
          <p:cNvPr id="146" name="Text 10"/>
          <p:cNvSpPr/>
          <p:nvPr/>
        </p:nvSpPr>
        <p:spPr>
          <a:xfrm>
            <a:off x="868680" y="4023360"/>
            <a:ext cx="306288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s-CL" sz="1000" b="0" u="none" strike="noStrike">
                <a:solidFill>
                  <a:srgbClr val="5A6472"/>
                </a:solidFill>
                <a:effectLst/>
                <a:uFillTx/>
                <a:latin typeface="Calibri"/>
                <a:ea typeface="Calibri"/>
              </a:rPr>
              <a:t>Base: STP clásico en el brote de 2019</a:t>
            </a:r>
            <a:endParaRPr lang="es-CL" sz="1000" b="0" u="none" strike="noStrike">
              <a:solidFill>
                <a:srgbClr val="000000"/>
              </a:solidFill>
              <a:effectLst/>
              <a:uFillTx/>
              <a:latin typeface="Arial"/>
            </a:endParaRPr>
          </a:p>
        </p:txBody>
      </p:sp>
      <p:sp>
        <p:nvSpPr>
          <p:cNvPr id="147" name="Shape 11"/>
          <p:cNvSpPr/>
          <p:nvPr/>
        </p:nvSpPr>
        <p:spPr>
          <a:xfrm>
            <a:off x="868680" y="4434840"/>
            <a:ext cx="2971440" cy="10440"/>
          </a:xfrm>
          <a:prstGeom prst="rect">
            <a:avLst/>
          </a:prstGeom>
          <a:solidFill>
            <a:srgbClr val="E3E8EE"/>
          </a:solidFill>
          <a:ln w="0">
            <a:noFill/>
          </a:ln>
        </p:spPr>
        <p:style>
          <a:lnRef idx="0"/>
          <a:fillRef idx="0"/>
          <a:effectRef idx="0"/>
          <a:fontRef idx="minor"/>
        </p:style>
        <p:txBody>
          <a:bodyPr lIns="90000" tIns="-34200" rIns="90000" bIns="-34200" anchor="t">
            <a:noAutofit/>
          </a:bodyPr>
          <a:p>
            <a:endParaRPr lang="en-US" sz="1800" b="0" u="none" strike="noStrike">
              <a:solidFill>
                <a:schemeClr val="dk1"/>
              </a:solidFill>
              <a:effectLst/>
              <a:uFillTx/>
              <a:latin typeface="Calibri"/>
            </a:endParaRPr>
          </a:p>
        </p:txBody>
      </p:sp>
      <p:sp>
        <p:nvSpPr>
          <p:cNvPr id="148" name="Text 12"/>
          <p:cNvSpPr/>
          <p:nvPr/>
        </p:nvSpPr>
        <p:spPr>
          <a:xfrm>
            <a:off x="868680" y="4572000"/>
            <a:ext cx="1485720" cy="822600"/>
          </a:xfrm>
          <a:prstGeom prst="rect">
            <a:avLst/>
          </a:prstGeom>
          <a:noFill/>
          <a:ln w="0">
            <a:noFill/>
          </a:ln>
        </p:spPr>
        <p:style>
          <a:lnRef idx="0"/>
          <a:fillRef idx="0"/>
          <a:effectRef idx="0"/>
          <a:fontRef idx="minor"/>
        </p:style>
        <p:txBody>
          <a:bodyPr lIns="0" tIns="0" rIns="0" bIns="0" anchor="ctr">
            <a:noAutofit/>
          </a:bodyPr>
          <a:p>
            <a:r>
              <a:rPr lang="es-CL" sz="900" b="0" u="none" strike="noStrike">
                <a:solidFill>
                  <a:srgbClr val="5A6472"/>
                </a:solidFill>
                <a:effectLst/>
                <a:uFillTx/>
                <a:latin typeface="Calibri"/>
                <a:ea typeface="Calibri"/>
              </a:rPr>
              <a:t>Línea base</a:t>
            </a:r>
            <a:endParaRPr lang="es-CL" sz="900" b="0" u="none" strike="noStrike">
              <a:solidFill>
                <a:srgbClr val="000000"/>
              </a:solidFill>
              <a:effectLst/>
              <a:uFillTx/>
              <a:latin typeface="Arial"/>
            </a:endParaRPr>
          </a:p>
          <a:p>
            <a:pPr algn="ctr" defTabSz="914400">
              <a:lnSpc>
                <a:spcPct val="100000"/>
              </a:lnSpc>
              <a:tabLst>
                <a:tab pos="0" algn="l"/>
              </a:tabLst>
            </a:pPr>
            <a:r>
              <a:rPr lang="es-CL" sz="1600" b="1" u="none" strike="noStrike">
                <a:solidFill>
                  <a:srgbClr val="16191F"/>
                </a:solidFill>
                <a:effectLst/>
                <a:uFillTx/>
                <a:latin typeface="Calibri"/>
                <a:ea typeface="Calibri"/>
              </a:rPr>
              <a:t>0 de 7</a:t>
            </a:r>
            <a:endParaRPr lang="es-CL" sz="1600" b="0" u="none" strike="noStrike">
              <a:solidFill>
                <a:srgbClr val="000000"/>
              </a:solidFill>
              <a:effectLst/>
              <a:uFillTx/>
              <a:latin typeface="Arial"/>
            </a:endParaRPr>
          </a:p>
        </p:txBody>
      </p:sp>
      <p:sp>
        <p:nvSpPr>
          <p:cNvPr id="149" name="Text 13"/>
          <p:cNvSpPr/>
          <p:nvPr/>
        </p:nvSpPr>
        <p:spPr>
          <a:xfrm>
            <a:off x="2354760" y="4572000"/>
            <a:ext cx="1485720" cy="822600"/>
          </a:xfrm>
          <a:prstGeom prst="rect">
            <a:avLst/>
          </a:prstGeom>
          <a:noFill/>
          <a:ln w="0">
            <a:noFill/>
          </a:ln>
        </p:spPr>
        <p:style>
          <a:lnRef idx="0"/>
          <a:fillRef idx="0"/>
          <a:effectRef idx="0"/>
          <a:fontRef idx="minor"/>
        </p:style>
        <p:txBody>
          <a:bodyPr lIns="0" tIns="0" rIns="0" bIns="0" anchor="ctr">
            <a:noAutofit/>
          </a:bodyPr>
          <a:p>
            <a:r>
              <a:rPr lang="es-CL" sz="900" b="0" u="none" strike="noStrike">
                <a:solidFill>
                  <a:srgbClr val="5A6472"/>
                </a:solidFill>
                <a:effectLst/>
                <a:uFillTx/>
                <a:latin typeface="Calibri"/>
                <a:ea typeface="Calibri"/>
              </a:rPr>
              <a:t>Meta</a:t>
            </a:r>
            <a:endParaRPr lang="es-CL" sz="900" b="0" u="none" strike="noStrike">
              <a:solidFill>
                <a:srgbClr val="000000"/>
              </a:solidFill>
              <a:effectLst/>
              <a:uFillTx/>
              <a:latin typeface="Arial"/>
            </a:endParaRPr>
          </a:p>
          <a:p>
            <a:pPr algn="ctr" defTabSz="914400">
              <a:lnSpc>
                <a:spcPct val="100000"/>
              </a:lnSpc>
              <a:tabLst>
                <a:tab pos="0" algn="l"/>
              </a:tabLst>
            </a:pPr>
            <a:r>
              <a:rPr lang="es-CL" sz="1600" b="1" u="none" strike="noStrike">
                <a:solidFill>
                  <a:srgbClr val="1E8E3E"/>
                </a:solidFill>
                <a:effectLst/>
                <a:uFillTx/>
                <a:latin typeface="Calibri"/>
                <a:ea typeface="Calibri"/>
              </a:rPr>
              <a:t>≥ 70 %</a:t>
            </a:r>
            <a:endParaRPr lang="es-CL" sz="1600" b="0" u="none" strike="noStrike">
              <a:solidFill>
                <a:srgbClr val="000000"/>
              </a:solidFill>
              <a:effectLst/>
              <a:uFillTx/>
              <a:latin typeface="Arial"/>
            </a:endParaRPr>
          </a:p>
        </p:txBody>
      </p:sp>
      <p:sp>
        <p:nvSpPr>
          <p:cNvPr id="150" name="Shape 14"/>
          <p:cNvSpPr/>
          <p:nvPr/>
        </p:nvSpPr>
        <p:spPr>
          <a:xfrm>
            <a:off x="4434840" y="3200400"/>
            <a:ext cx="3611520" cy="2331360"/>
          </a:xfrm>
          <a:prstGeom prst="roundRect">
            <a:avLst>
              <a:gd name="adj" fmla="val 2353"/>
            </a:avLst>
          </a:prstGeom>
          <a:solidFill>
            <a:srgbClr val="FFFFFF"/>
          </a:solidFill>
          <a:ln w="12700">
            <a:solidFill>
              <a:srgbClr val="E3E8EE"/>
            </a:solidFill>
            <a:round/>
          </a:ln>
          <a:effectLst>
            <a:outerShdw algn="bl" blurRad="88920" dir="8100000" dist="37674" rotWithShape="0">
              <a:srgbClr val="000000">
                <a:alpha val="14000"/>
              </a:srgbClr>
            </a:outerShdw>
          </a:effectLst>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pic>
        <p:nvPicPr>
          <p:cNvPr id="151" name="Image 2" descr="icon_hl0pghp3hnf.svg"/>
          <p:cNvPicPr/>
          <p:nvPr/>
        </p:nvPicPr>
        <p:blipFill>
          <a:blip r:embed="rId5">
            <a:extLst>
              <a:ext uri="{96DAC541-7B7A-43D3-8B79-37D633B846F1}">
                <asvg:svgBlip xmlns:asvg="http://schemas.microsoft.com/office/drawing/2016/SVG/main" r:embed="rId6"/>
              </a:ext>
            </a:extLst>
          </a:blip>
          <a:stretch/>
        </p:blipFill>
        <p:spPr>
          <a:xfrm>
            <a:off x="4754880" y="3474720"/>
            <a:ext cx="456840" cy="456840"/>
          </a:xfrm>
          <a:prstGeom prst="rect">
            <a:avLst/>
          </a:prstGeom>
          <a:noFill/>
          <a:ln w="0">
            <a:noFill/>
          </a:ln>
        </p:spPr>
      </p:pic>
      <p:sp>
        <p:nvSpPr>
          <p:cNvPr id="152" name="Text 15"/>
          <p:cNvSpPr/>
          <p:nvPr/>
        </p:nvSpPr>
        <p:spPr>
          <a:xfrm>
            <a:off x="5349240" y="3474720"/>
            <a:ext cx="25142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s-CL" sz="1500" b="1" u="none" strike="noStrike">
                <a:solidFill>
                  <a:srgbClr val="232F3E"/>
                </a:solidFill>
                <a:effectLst/>
                <a:uFillTx/>
                <a:latin typeface="Trebuchet MS"/>
                <a:ea typeface="Trebuchet MS"/>
              </a:rPr>
              <a:t>Falsas alarmas (FAR)</a:t>
            </a:r>
            <a:endParaRPr lang="es-CL" sz="1500" b="0" u="none" strike="noStrike">
              <a:solidFill>
                <a:srgbClr val="000000"/>
              </a:solidFill>
              <a:effectLst/>
              <a:uFillTx/>
              <a:latin typeface="Arial"/>
            </a:endParaRPr>
          </a:p>
        </p:txBody>
      </p:sp>
      <p:sp>
        <p:nvSpPr>
          <p:cNvPr id="153" name="Text 16"/>
          <p:cNvSpPr/>
          <p:nvPr/>
        </p:nvSpPr>
        <p:spPr>
          <a:xfrm>
            <a:off x="4754880" y="4023360"/>
            <a:ext cx="306288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s-CL" sz="1000" b="0" u="none" strike="noStrike">
                <a:solidFill>
                  <a:srgbClr val="5A6472"/>
                </a:solidFill>
                <a:effectLst/>
                <a:uFillTx/>
                <a:latin typeface="Calibri"/>
                <a:ea typeface="Calibri"/>
              </a:rPr>
              <a:t>Base: días con SHERBE ≥ 1 sin tornado</a:t>
            </a:r>
            <a:endParaRPr lang="es-CL" sz="1000" b="0" u="none" strike="noStrike">
              <a:solidFill>
                <a:srgbClr val="000000"/>
              </a:solidFill>
              <a:effectLst/>
              <a:uFillTx/>
              <a:latin typeface="Arial"/>
            </a:endParaRPr>
          </a:p>
        </p:txBody>
      </p:sp>
      <p:sp>
        <p:nvSpPr>
          <p:cNvPr id="154" name="Shape 17"/>
          <p:cNvSpPr/>
          <p:nvPr/>
        </p:nvSpPr>
        <p:spPr>
          <a:xfrm>
            <a:off x="4754880" y="4434840"/>
            <a:ext cx="2971440" cy="10440"/>
          </a:xfrm>
          <a:prstGeom prst="rect">
            <a:avLst/>
          </a:prstGeom>
          <a:solidFill>
            <a:srgbClr val="E3E8EE"/>
          </a:solidFill>
          <a:ln w="0">
            <a:noFill/>
          </a:ln>
        </p:spPr>
        <p:style>
          <a:lnRef idx="0"/>
          <a:fillRef idx="0"/>
          <a:effectRef idx="0"/>
          <a:fontRef idx="minor"/>
        </p:style>
        <p:txBody>
          <a:bodyPr lIns="90000" tIns="-34200" rIns="90000" bIns="-34200" anchor="t">
            <a:noAutofit/>
          </a:bodyPr>
          <a:p>
            <a:endParaRPr lang="en-US" sz="1800" b="0" u="none" strike="noStrike">
              <a:solidFill>
                <a:schemeClr val="dk1"/>
              </a:solidFill>
              <a:effectLst/>
              <a:uFillTx/>
              <a:latin typeface="Calibri"/>
            </a:endParaRPr>
          </a:p>
        </p:txBody>
      </p:sp>
      <p:sp>
        <p:nvSpPr>
          <p:cNvPr id="155" name="Text 18"/>
          <p:cNvSpPr/>
          <p:nvPr/>
        </p:nvSpPr>
        <p:spPr>
          <a:xfrm>
            <a:off x="4754880" y="4572000"/>
            <a:ext cx="1485720" cy="822600"/>
          </a:xfrm>
          <a:prstGeom prst="rect">
            <a:avLst/>
          </a:prstGeom>
          <a:noFill/>
          <a:ln w="0">
            <a:noFill/>
          </a:ln>
        </p:spPr>
        <p:style>
          <a:lnRef idx="0"/>
          <a:fillRef idx="0"/>
          <a:effectRef idx="0"/>
          <a:fontRef idx="minor"/>
        </p:style>
        <p:txBody>
          <a:bodyPr lIns="0" tIns="0" rIns="0" bIns="0" anchor="ctr">
            <a:noAutofit/>
          </a:bodyPr>
          <a:p>
            <a:r>
              <a:rPr lang="es-CL" sz="900" b="0" u="none" strike="noStrike">
                <a:solidFill>
                  <a:srgbClr val="5A6472"/>
                </a:solidFill>
                <a:effectLst/>
                <a:uFillTx/>
                <a:latin typeface="Calibri"/>
                <a:ea typeface="Calibri"/>
              </a:rPr>
              <a:t>Línea base</a:t>
            </a:r>
            <a:endParaRPr lang="es-CL" sz="900" b="0" u="none" strike="noStrike">
              <a:solidFill>
                <a:srgbClr val="000000"/>
              </a:solidFill>
              <a:effectLst/>
              <a:uFillTx/>
              <a:latin typeface="Arial"/>
            </a:endParaRPr>
          </a:p>
          <a:p>
            <a:pPr algn="ctr" defTabSz="914400">
              <a:lnSpc>
                <a:spcPct val="100000"/>
              </a:lnSpc>
              <a:tabLst>
                <a:tab pos="0" algn="l"/>
              </a:tabLst>
            </a:pPr>
            <a:r>
              <a:rPr lang="es-CL" sz="1600" b="1" u="none" strike="noStrike">
                <a:solidFill>
                  <a:srgbClr val="16191F"/>
                </a:solidFill>
                <a:effectLst/>
                <a:uFillTx/>
                <a:latin typeface="Calibri"/>
                <a:ea typeface="Calibri"/>
              </a:rPr>
              <a:t>≈ 70 %</a:t>
            </a:r>
            <a:endParaRPr lang="es-CL" sz="1600" b="0" u="none" strike="noStrike">
              <a:solidFill>
                <a:srgbClr val="000000"/>
              </a:solidFill>
              <a:effectLst/>
              <a:uFillTx/>
              <a:latin typeface="Arial"/>
            </a:endParaRPr>
          </a:p>
        </p:txBody>
      </p:sp>
      <p:sp>
        <p:nvSpPr>
          <p:cNvPr id="156" name="Text 19"/>
          <p:cNvSpPr/>
          <p:nvPr/>
        </p:nvSpPr>
        <p:spPr>
          <a:xfrm>
            <a:off x="6240960" y="4572000"/>
            <a:ext cx="1485720" cy="822600"/>
          </a:xfrm>
          <a:prstGeom prst="rect">
            <a:avLst/>
          </a:prstGeom>
          <a:noFill/>
          <a:ln w="0">
            <a:noFill/>
          </a:ln>
        </p:spPr>
        <p:style>
          <a:lnRef idx="0"/>
          <a:fillRef idx="0"/>
          <a:effectRef idx="0"/>
          <a:fontRef idx="minor"/>
        </p:style>
        <p:txBody>
          <a:bodyPr lIns="0" tIns="0" rIns="0" bIns="0" anchor="ctr">
            <a:noAutofit/>
          </a:bodyPr>
          <a:p>
            <a:r>
              <a:rPr lang="es-CL" sz="900" b="0" u="none" strike="noStrike">
                <a:solidFill>
                  <a:srgbClr val="5A6472"/>
                </a:solidFill>
                <a:effectLst/>
                <a:uFillTx/>
                <a:latin typeface="Calibri"/>
                <a:ea typeface="Calibri"/>
              </a:rPr>
              <a:t>Meta</a:t>
            </a:r>
            <a:endParaRPr lang="es-CL" sz="900" b="0" u="none" strike="noStrike">
              <a:solidFill>
                <a:srgbClr val="000000"/>
              </a:solidFill>
              <a:effectLst/>
              <a:uFillTx/>
              <a:latin typeface="Arial"/>
            </a:endParaRPr>
          </a:p>
          <a:p>
            <a:pPr algn="ctr" defTabSz="914400">
              <a:lnSpc>
                <a:spcPct val="100000"/>
              </a:lnSpc>
              <a:tabLst>
                <a:tab pos="0" algn="l"/>
              </a:tabLst>
            </a:pPr>
            <a:r>
              <a:rPr lang="es-CL" sz="1600" b="1" u="none" strike="noStrike">
                <a:solidFill>
                  <a:srgbClr val="1E8E3E"/>
                </a:solidFill>
                <a:effectLst/>
                <a:uFillTx/>
                <a:latin typeface="Calibri"/>
                <a:ea typeface="Calibri"/>
              </a:rPr>
              <a:t>≤ 50 %</a:t>
            </a:r>
            <a:endParaRPr lang="es-CL" sz="1600" b="0" u="none" strike="noStrike">
              <a:solidFill>
                <a:srgbClr val="000000"/>
              </a:solidFill>
              <a:effectLst/>
              <a:uFillTx/>
              <a:latin typeface="Arial"/>
            </a:endParaRPr>
          </a:p>
        </p:txBody>
      </p:sp>
      <p:sp>
        <p:nvSpPr>
          <p:cNvPr id="157" name="Shape 20"/>
          <p:cNvSpPr/>
          <p:nvPr/>
        </p:nvSpPr>
        <p:spPr>
          <a:xfrm>
            <a:off x="8321040" y="3200400"/>
            <a:ext cx="3611520" cy="2331360"/>
          </a:xfrm>
          <a:prstGeom prst="roundRect">
            <a:avLst>
              <a:gd name="adj" fmla="val 2353"/>
            </a:avLst>
          </a:prstGeom>
          <a:solidFill>
            <a:srgbClr val="FFFFFF"/>
          </a:solidFill>
          <a:ln w="12700">
            <a:solidFill>
              <a:srgbClr val="E3E8EE"/>
            </a:solidFill>
            <a:round/>
          </a:ln>
          <a:effectLst>
            <a:outerShdw algn="bl" blurRad="88920" dir="8100000" dist="37674" rotWithShape="0">
              <a:srgbClr val="000000">
                <a:alpha val="14000"/>
              </a:srgbClr>
            </a:outerShdw>
          </a:effectLst>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pic>
        <p:nvPicPr>
          <p:cNvPr id="158" name="Image 3" descr="icon_y87spp7ah3m.svg"/>
          <p:cNvPicPr/>
          <p:nvPr/>
        </p:nvPicPr>
        <p:blipFill>
          <a:blip r:embed="rId7">
            <a:extLst>
              <a:ext uri="{96DAC541-7B7A-43D3-8B79-37D633B846F1}">
                <asvg:svgBlip xmlns:asvg="http://schemas.microsoft.com/office/drawing/2016/SVG/main" r:embed="rId8"/>
              </a:ext>
            </a:extLst>
          </a:blip>
          <a:stretch/>
        </p:blipFill>
        <p:spPr>
          <a:xfrm>
            <a:off x="8641080" y="3474720"/>
            <a:ext cx="456840" cy="456840"/>
          </a:xfrm>
          <a:prstGeom prst="rect">
            <a:avLst/>
          </a:prstGeom>
          <a:noFill/>
          <a:ln w="0">
            <a:noFill/>
          </a:ln>
        </p:spPr>
      </p:pic>
      <p:sp>
        <p:nvSpPr>
          <p:cNvPr id="159" name="Text 21"/>
          <p:cNvSpPr/>
          <p:nvPr/>
        </p:nvSpPr>
        <p:spPr>
          <a:xfrm>
            <a:off x="9235440" y="3474720"/>
            <a:ext cx="25142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s-CL" sz="1500" b="1" u="none" strike="noStrike">
                <a:solidFill>
                  <a:srgbClr val="232F3E"/>
                </a:solidFill>
                <a:effectLst/>
                <a:uFillTx/>
                <a:latin typeface="Trebuchet MS"/>
                <a:ea typeface="Trebuchet MS"/>
              </a:rPr>
              <a:t>Alertas por tornado</a:t>
            </a:r>
            <a:endParaRPr lang="es-CL" sz="1500" b="0" u="none" strike="noStrike">
              <a:solidFill>
                <a:srgbClr val="000000"/>
              </a:solidFill>
              <a:effectLst/>
              <a:uFillTx/>
              <a:latin typeface="Arial"/>
            </a:endParaRPr>
          </a:p>
        </p:txBody>
      </p:sp>
      <p:sp>
        <p:nvSpPr>
          <p:cNvPr id="160" name="Text 22"/>
          <p:cNvSpPr/>
          <p:nvPr/>
        </p:nvSpPr>
        <p:spPr>
          <a:xfrm>
            <a:off x="8641080" y="4023360"/>
            <a:ext cx="306288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s-CL" sz="1000" b="0" u="none" strike="noStrike">
                <a:solidFill>
                  <a:srgbClr val="5A6472"/>
                </a:solidFill>
                <a:effectLst/>
                <a:uFillTx/>
                <a:latin typeface="Calibri"/>
                <a:ea typeface="Calibri"/>
              </a:rPr>
              <a:t>Días de alerta que revisa un experto por acierto</a:t>
            </a:r>
            <a:endParaRPr lang="es-CL" sz="1000" b="0" u="none" strike="noStrike">
              <a:solidFill>
                <a:srgbClr val="000000"/>
              </a:solidFill>
              <a:effectLst/>
              <a:uFillTx/>
              <a:latin typeface="Arial"/>
            </a:endParaRPr>
          </a:p>
        </p:txBody>
      </p:sp>
      <p:sp>
        <p:nvSpPr>
          <p:cNvPr id="161" name="Shape 23"/>
          <p:cNvSpPr/>
          <p:nvPr/>
        </p:nvSpPr>
        <p:spPr>
          <a:xfrm>
            <a:off x="8641080" y="4434840"/>
            <a:ext cx="2971440" cy="10440"/>
          </a:xfrm>
          <a:prstGeom prst="rect">
            <a:avLst/>
          </a:prstGeom>
          <a:solidFill>
            <a:srgbClr val="E3E8EE"/>
          </a:solidFill>
          <a:ln w="0">
            <a:noFill/>
          </a:ln>
        </p:spPr>
        <p:style>
          <a:lnRef idx="0"/>
          <a:fillRef idx="0"/>
          <a:effectRef idx="0"/>
          <a:fontRef idx="minor"/>
        </p:style>
        <p:txBody>
          <a:bodyPr lIns="90000" tIns="-34200" rIns="90000" bIns="-34200" anchor="t">
            <a:noAutofit/>
          </a:bodyPr>
          <a:p>
            <a:endParaRPr lang="en-US" sz="1800" b="0" u="none" strike="noStrike">
              <a:solidFill>
                <a:schemeClr val="dk1"/>
              </a:solidFill>
              <a:effectLst/>
              <a:uFillTx/>
              <a:latin typeface="Calibri"/>
            </a:endParaRPr>
          </a:p>
        </p:txBody>
      </p:sp>
      <p:sp>
        <p:nvSpPr>
          <p:cNvPr id="162" name="Text 24"/>
          <p:cNvSpPr/>
          <p:nvPr/>
        </p:nvSpPr>
        <p:spPr>
          <a:xfrm>
            <a:off x="8641080" y="4572000"/>
            <a:ext cx="1485720" cy="822600"/>
          </a:xfrm>
          <a:prstGeom prst="rect">
            <a:avLst/>
          </a:prstGeom>
          <a:noFill/>
          <a:ln w="0">
            <a:noFill/>
          </a:ln>
        </p:spPr>
        <p:style>
          <a:lnRef idx="0"/>
          <a:fillRef idx="0"/>
          <a:effectRef idx="0"/>
          <a:fontRef idx="minor"/>
        </p:style>
        <p:txBody>
          <a:bodyPr lIns="0" tIns="0" rIns="0" bIns="0" anchor="ctr">
            <a:noAutofit/>
          </a:bodyPr>
          <a:p>
            <a:r>
              <a:rPr lang="es-CL" sz="900" b="0" u="none" strike="noStrike">
                <a:solidFill>
                  <a:srgbClr val="5A6472"/>
                </a:solidFill>
                <a:effectLst/>
                <a:uFillTx/>
                <a:latin typeface="Calibri"/>
                <a:ea typeface="Calibri"/>
              </a:rPr>
              <a:t>Línea base</a:t>
            </a:r>
            <a:endParaRPr lang="es-CL" sz="900" b="0" u="none" strike="noStrike">
              <a:solidFill>
                <a:srgbClr val="000000"/>
              </a:solidFill>
              <a:effectLst/>
              <a:uFillTx/>
              <a:latin typeface="Arial"/>
            </a:endParaRPr>
          </a:p>
          <a:p>
            <a:pPr algn="ctr" defTabSz="914400">
              <a:lnSpc>
                <a:spcPct val="100000"/>
              </a:lnSpc>
              <a:tabLst>
                <a:tab pos="0" algn="l"/>
              </a:tabLst>
            </a:pPr>
            <a:r>
              <a:rPr lang="es-CL" sz="1600" b="1" u="none" strike="noStrike">
                <a:solidFill>
                  <a:srgbClr val="16191F"/>
                </a:solidFill>
                <a:effectLst/>
                <a:uFillTx/>
                <a:latin typeface="Calibri"/>
                <a:ea typeface="Calibri"/>
              </a:rPr>
              <a:t>≈ 4</a:t>
            </a:r>
            <a:endParaRPr lang="es-CL" sz="1600" b="0" u="none" strike="noStrike">
              <a:solidFill>
                <a:srgbClr val="000000"/>
              </a:solidFill>
              <a:effectLst/>
              <a:uFillTx/>
              <a:latin typeface="Arial"/>
            </a:endParaRPr>
          </a:p>
        </p:txBody>
      </p:sp>
      <p:sp>
        <p:nvSpPr>
          <p:cNvPr id="163" name="Text 25"/>
          <p:cNvSpPr/>
          <p:nvPr/>
        </p:nvSpPr>
        <p:spPr>
          <a:xfrm>
            <a:off x="10127160" y="4572000"/>
            <a:ext cx="1485720" cy="822600"/>
          </a:xfrm>
          <a:prstGeom prst="rect">
            <a:avLst/>
          </a:prstGeom>
          <a:noFill/>
          <a:ln w="0">
            <a:noFill/>
          </a:ln>
        </p:spPr>
        <p:style>
          <a:lnRef idx="0"/>
          <a:fillRef idx="0"/>
          <a:effectRef idx="0"/>
          <a:fontRef idx="minor"/>
        </p:style>
        <p:txBody>
          <a:bodyPr lIns="0" tIns="0" rIns="0" bIns="0" anchor="ctr">
            <a:noAutofit/>
          </a:bodyPr>
          <a:p>
            <a:r>
              <a:rPr lang="es-CL" sz="900" b="0" u="none" strike="noStrike">
                <a:solidFill>
                  <a:srgbClr val="5A6472"/>
                </a:solidFill>
                <a:effectLst/>
                <a:uFillTx/>
                <a:latin typeface="Calibri"/>
                <a:ea typeface="Calibri"/>
              </a:rPr>
              <a:t>Meta</a:t>
            </a:r>
            <a:endParaRPr lang="es-CL" sz="900" b="0" u="none" strike="noStrike">
              <a:solidFill>
                <a:srgbClr val="000000"/>
              </a:solidFill>
              <a:effectLst/>
              <a:uFillTx/>
              <a:latin typeface="Arial"/>
            </a:endParaRPr>
          </a:p>
          <a:p>
            <a:pPr algn="ctr" defTabSz="914400">
              <a:lnSpc>
                <a:spcPct val="100000"/>
              </a:lnSpc>
              <a:tabLst>
                <a:tab pos="0" algn="l"/>
              </a:tabLst>
            </a:pPr>
            <a:r>
              <a:rPr lang="es-CL" sz="1600" b="1" u="none" strike="noStrike">
                <a:solidFill>
                  <a:srgbClr val="1E8E3E"/>
                </a:solidFill>
                <a:effectLst/>
                <a:uFillTx/>
                <a:latin typeface="Calibri"/>
                <a:ea typeface="Calibri"/>
              </a:rPr>
              <a:t>≤ 2</a:t>
            </a:r>
            <a:endParaRPr lang="es-CL" sz="1600" b="0" u="none" strike="noStrike">
              <a:solidFill>
                <a:srgbClr val="000000"/>
              </a:solidFill>
              <a:effectLst/>
              <a:uFillTx/>
              <a:latin typeface="Arial"/>
            </a:endParaRPr>
          </a:p>
        </p:txBody>
      </p:sp>
      <p:sp>
        <p:nvSpPr>
          <p:cNvPr id="164" name="Text 26"/>
          <p:cNvSpPr/>
          <p:nvPr/>
        </p:nvSpPr>
        <p:spPr>
          <a:xfrm>
            <a:off x="548640" y="6437520"/>
            <a:ext cx="8229240" cy="273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s-CL" sz="900" b="1" u="none" strike="noStrike">
                <a:solidFill>
                  <a:srgbClr val="5A6472"/>
                </a:solidFill>
                <a:effectLst/>
                <a:uFillTx/>
                <a:latin typeface="Calibri"/>
                <a:ea typeface="Calibri"/>
              </a:rPr>
              <a:t>AWS Breaking Barriers Chile 2026</a:t>
            </a:r>
            <a:r>
              <a:rPr lang="es-CL" sz="900" b="0" u="none" strike="noStrike">
                <a:solidFill>
                  <a:srgbClr val="5A6472"/>
                </a:solidFill>
                <a:effectLst/>
                <a:uFillTx/>
                <a:latin typeface="Calibri"/>
                <a:ea typeface="Calibri"/>
              </a:rPr>
              <a:t>   |   Desafío CR2 · Universidad de Chile</a:t>
            </a:r>
            <a:endParaRPr lang="es-CL" sz="900" b="0" u="none" strike="noStrike">
              <a:solidFill>
                <a:srgbClr val="000000"/>
              </a:solidFill>
              <a:effectLst/>
              <a:uFillTx/>
              <a:latin typeface="Arial"/>
            </a:endParaRPr>
          </a:p>
        </p:txBody>
      </p:sp>
      <p:sp>
        <p:nvSpPr>
          <p:cNvPr id="165" name="Text 27"/>
          <p:cNvSpPr/>
          <p:nvPr/>
        </p:nvSpPr>
        <p:spPr>
          <a:xfrm>
            <a:off x="11338560" y="6437520"/>
            <a:ext cx="365400" cy="27396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s-CL" sz="900" b="0" u="none" strike="noStrike">
                <a:solidFill>
                  <a:srgbClr val="5A6472"/>
                </a:solidFill>
                <a:effectLst/>
                <a:uFillTx/>
                <a:latin typeface="Calibri"/>
                <a:ea typeface="Calibri"/>
              </a:rPr>
              <a:t>6</a:t>
            </a:r>
            <a:endParaRPr lang="es-CL" sz="900" b="0" u="none" strike="noStrike">
              <a:solidFill>
                <a:srgbClr val="000000"/>
              </a:solidFill>
              <a:effectLst/>
              <a:uFillTx/>
              <a:latin typeface="Arial"/>
            </a:endParaRPr>
          </a:p>
        </p:txBody>
      </p:sp>
      <p:sp>
        <p:nvSpPr>
          <p:cNvPr id="166" name="Glosario"/>
          <p:cNvSpPr/>
          <p:nvPr/>
        </p:nvSpPr>
        <p:spPr>
          <a:xfrm>
            <a:off x="868680" y="5669280"/>
            <a:ext cx="1060668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s-CL" sz="1000" b="0" u="none" strike="noStrike">
                <a:solidFill>
                  <a:srgbClr val="5A6472"/>
                </a:solidFill>
                <a:effectLst/>
                <a:uFillTx/>
                <a:latin typeface="Calibri"/>
                <a:ea typeface="Calibri"/>
              </a:rPr>
              <a:t>POD (probabilidad de detección): fracción de los tornados registrados que el modelo marca. FAR (razón de falsas alarmas): fracción de las alertas sin un tornado registrado.</a:t>
            </a:r>
            <a:endParaRPr lang="es-CL" sz="1000" b="0" u="none" strike="noStrike">
              <a:solidFill>
                <a:srgbClr val="000000"/>
              </a:solidFill>
              <a:effectLst/>
              <a:uFillTx/>
              <a:latin typeface="Arial"/>
            </a:endParaRPr>
          </a:p>
          <a:p>
            <a:pPr defTabSz="914400">
              <a:lnSpc>
                <a:spcPct val="100000"/>
              </a:lnSpc>
              <a:tabLst>
                <a:tab pos="0" algn="l"/>
              </a:tabLst>
            </a:pPr>
            <a:r>
              <a:rPr lang="es-CL" sz="1000" b="0" u="none" strike="noStrike">
                <a:solidFill>
                  <a:srgbClr val="5A6472"/>
                </a:solidFill>
                <a:effectLst/>
                <a:uFillTx/>
                <a:latin typeface="Calibri"/>
                <a:ea typeface="Calibri"/>
              </a:rPr>
              <a:t>STP (Significant Tornado Parameter) y SHERBE (Severe Hazards in Environments with Reduced Buoyancy): índices que combinan energía convectiva y cizalladura del viento para señalar entornos favorables a tornados. En Chile se usan STP ≤ −0,3 y SHERBE ≥ 1 (Marín et al., 2024).</a:t>
            </a:r>
            <a:endParaRPr lang="es-CL"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32F3E"/>
        </a:solidFill>
      </p:bgPr>
    </p:bg>
    <p:spTree>
      <p:nvGrpSpPr>
        <p:cNvPr id="1" name=""/>
        <p:cNvGrpSpPr/>
        <p:nvPr/>
      </p:nvGrpSpPr>
      <p:grpSpPr>
        <a:xfrm>
          <a:off x="0" y="0"/>
          <a:ext cx="0" cy="0"/>
          <a:chOff x="0" y="0"/>
          <a:chExt cx="0" cy="0"/>
        </a:xfrm>
      </p:grpSpPr>
      <p:sp>
        <p:nvSpPr>
          <p:cNvPr id="167" name="Shape 0"/>
          <p:cNvSpPr/>
          <p:nvPr/>
        </p:nvSpPr>
        <p:spPr>
          <a:xfrm>
            <a:off x="-2011680" y="3931920"/>
            <a:ext cx="5028840" cy="5028840"/>
          </a:xfrm>
          <a:prstGeom prst="ellipse">
            <a:avLst/>
          </a:prstGeom>
          <a:solidFill>
            <a:srgbClr val="FF9900">
              <a:alpha val="16000"/>
            </a:srgbClr>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68" name="Shape 1"/>
          <p:cNvSpPr/>
          <p:nvPr/>
        </p:nvSpPr>
        <p:spPr>
          <a:xfrm>
            <a:off x="9601200" y="-2103120"/>
            <a:ext cx="4754520" cy="4754520"/>
          </a:xfrm>
          <a:prstGeom prst="ellipse">
            <a:avLst/>
          </a:prstGeom>
          <a:solidFill>
            <a:srgbClr val="00A1C9">
              <a:alpha val="14000"/>
            </a:srgbClr>
          </a:solidFill>
          <a:ln w="0">
            <a:noFill/>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sp>
        <p:nvSpPr>
          <p:cNvPr id="169" name="Text 2"/>
          <p:cNvSpPr/>
          <p:nvPr/>
        </p:nvSpPr>
        <p:spPr>
          <a:xfrm>
            <a:off x="822960" y="1600200"/>
            <a:ext cx="100580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s-CL" sz="1400" b="1" u="none" spc="201" strike="noStrike">
                <a:solidFill>
                  <a:srgbClr val="FF9900"/>
                </a:solidFill>
                <a:effectLst/>
                <a:uFillTx/>
                <a:latin typeface="Trebuchet MS"/>
                <a:ea typeface="Trebuchet MS"/>
              </a:rPr>
              <a:t>SÚMATE A RESOLVER ESTO</a:t>
            </a:r>
            <a:endParaRPr lang="es-CL" sz="1400" b="0" u="none" strike="noStrike">
              <a:solidFill>
                <a:srgbClr val="FFFFFF"/>
              </a:solidFill>
              <a:effectLst/>
              <a:uFillTx/>
              <a:latin typeface="Arial"/>
            </a:endParaRPr>
          </a:p>
        </p:txBody>
      </p:sp>
      <p:sp>
        <p:nvSpPr>
          <p:cNvPr id="170" name="Text 3"/>
          <p:cNvSpPr/>
          <p:nvPr/>
        </p:nvSpPr>
        <p:spPr>
          <a:xfrm>
            <a:off x="804600" y="2057400"/>
            <a:ext cx="10515240" cy="1279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s-CL" sz="4000" b="1" u="none" strike="noStrike">
                <a:solidFill>
                  <a:srgbClr val="FFFFFF"/>
                </a:solidFill>
                <a:effectLst/>
                <a:uFillTx/>
                <a:latin typeface="Trebuchet MS"/>
                <a:ea typeface="Trebuchet MS"/>
              </a:rPr>
              <a:t>Que la próxima tormenta no nos tome por sorpresa</a:t>
            </a:r>
            <a:endParaRPr lang="es-CL" sz="4000" b="0" u="none" strike="noStrike">
              <a:solidFill>
                <a:srgbClr val="FFFFFF"/>
              </a:solidFill>
              <a:effectLst/>
              <a:uFillTx/>
              <a:latin typeface="Arial"/>
            </a:endParaRPr>
          </a:p>
        </p:txBody>
      </p:sp>
      <p:sp>
        <p:nvSpPr>
          <p:cNvPr id="171" name="Text 4"/>
          <p:cNvSpPr/>
          <p:nvPr/>
        </p:nvSpPr>
        <p:spPr>
          <a:xfrm>
            <a:off x="822960" y="3429000"/>
            <a:ext cx="9600840" cy="914040"/>
          </a:xfrm>
          <a:prstGeom prst="rect">
            <a:avLst/>
          </a:prstGeom>
          <a:noFill/>
          <a:ln w="0">
            <a:noFill/>
          </a:ln>
        </p:spPr>
        <p:style>
          <a:lnRef idx="0"/>
          <a:fillRef idx="0"/>
          <a:effectRef idx="0"/>
          <a:fontRef idx="minor"/>
        </p:style>
        <p:txBody>
          <a:bodyPr lIns="0" tIns="0" rIns="0" bIns="0" anchor="ctr">
            <a:noAutofit/>
          </a:bodyPr>
          <a:p>
            <a:pPr defTabSz="914400">
              <a:lnSpc>
                <a:spcPts val="2001"/>
              </a:lnSpc>
              <a:tabLst>
                <a:tab pos="0" algn="l"/>
              </a:tabLst>
            </a:pPr>
            <a:r>
              <a:rPr lang="es-CL" sz="1500" b="0" u="none" strike="noStrike">
                <a:solidFill>
                  <a:srgbClr val="C8D1DC"/>
                </a:solidFill>
                <a:effectLst/>
                <a:uFillTx/>
                <a:latin typeface="Calibri"/>
                <a:ea typeface="Calibri"/>
              </a:rPr>
              <a:t>En estos tres días podrán </a:t>
            </a:r>
            <a:r>
              <a:rPr lang="es-CL" sz="1500" b="0" u="none" strike="noStrike">
                <a:solidFill>
                  <a:srgbClr val="C8D1DC"/>
                </a:solidFill>
                <a:effectLst/>
                <a:uFillTx/>
                <a:latin typeface="Calibri"/>
                <a:ea typeface="Calibri"/>
              </a:rPr>
              <a:t>construir el primer modelo </a:t>
            </a:r>
            <a:r>
              <a:rPr lang="es-CL" sz="1500" b="0" u="none" strike="noStrike">
                <a:solidFill>
                  <a:srgbClr val="C8D1DC"/>
                </a:solidFill>
                <a:effectLst/>
                <a:uFillTx/>
                <a:latin typeface="Calibri"/>
                <a:ea typeface="Calibri"/>
              </a:rPr>
              <a:t>para encontrar posibles </a:t>
            </a:r>
            <a:r>
              <a:rPr lang="es-CL" sz="1500" b="0" u="none" strike="noStrike">
                <a:solidFill>
                  <a:srgbClr val="C8D1DC"/>
                </a:solidFill>
                <a:effectLst/>
                <a:uFillTx/>
                <a:latin typeface="Calibri"/>
                <a:ea typeface="Calibri"/>
              </a:rPr>
              <a:t>tornados en Chile, </a:t>
            </a:r>
            <a:endParaRPr lang="es-CL" sz="1500" b="0" u="none" strike="noStrike">
              <a:solidFill>
                <a:srgbClr val="FFFFFF"/>
              </a:solidFill>
              <a:effectLst/>
              <a:uFillTx/>
              <a:latin typeface="Arial"/>
            </a:endParaRPr>
          </a:p>
          <a:p>
            <a:pPr defTabSz="914400">
              <a:lnSpc>
                <a:spcPts val="2001"/>
              </a:lnSpc>
              <a:tabLst>
                <a:tab pos="0" algn="l"/>
              </a:tabLst>
            </a:pPr>
            <a:r>
              <a:rPr lang="es-CL" sz="1500" b="0" u="none" strike="noStrike">
                <a:solidFill>
                  <a:srgbClr val="C8D1DC"/>
                </a:solidFill>
                <a:effectLst/>
                <a:uFillTx/>
                <a:latin typeface="Calibri"/>
                <a:ea typeface="Calibri"/>
              </a:rPr>
              <a:t>el primer paso para poder </a:t>
            </a:r>
            <a:r>
              <a:rPr lang="es-CL" sz="1500" b="0" u="none" strike="noStrike">
                <a:solidFill>
                  <a:srgbClr val="C8D1DC"/>
                </a:solidFill>
                <a:effectLst/>
                <a:uFillTx/>
                <a:latin typeface="Calibri"/>
                <a:ea typeface="Calibri"/>
              </a:rPr>
              <a:t>anticiparlos</a:t>
            </a:r>
            <a:endParaRPr lang="es-CL" sz="1500" b="0" u="none" strike="noStrike">
              <a:solidFill>
                <a:srgbClr val="FFFFFF"/>
              </a:solidFill>
              <a:effectLst/>
              <a:uFillTx/>
              <a:latin typeface="Arial"/>
            </a:endParaRPr>
          </a:p>
        </p:txBody>
      </p:sp>
      <p:sp>
        <p:nvSpPr>
          <p:cNvPr id="172" name="Shape 5"/>
          <p:cNvSpPr/>
          <p:nvPr/>
        </p:nvSpPr>
        <p:spPr>
          <a:xfrm>
            <a:off x="822960" y="4526280"/>
            <a:ext cx="5486040" cy="1279800"/>
          </a:xfrm>
          <a:prstGeom prst="roundRect">
            <a:avLst>
              <a:gd name="adj" fmla="val 5000"/>
            </a:avLst>
          </a:prstGeom>
          <a:solidFill>
            <a:srgbClr val="161E2D"/>
          </a:solidFill>
          <a:ln w="12700">
            <a:solidFill>
              <a:srgbClr val="3A465A"/>
            </a:solidFill>
            <a:round/>
          </a:ln>
        </p:spPr>
        <p:style>
          <a:lnRef idx="0"/>
          <a:fillRef idx="0"/>
          <a:effectRef idx="0"/>
          <a:fontRef idx="minor"/>
        </p:style>
        <p:txBody>
          <a:bodyPr lIns="90000" tIns="45000" rIns="90000" bIns="45000" anchor="t">
            <a:noAutofit/>
          </a:bodyPr>
          <a:p>
            <a:endParaRPr lang="en-US" sz="1800" b="0" u="none" strike="noStrike">
              <a:solidFill>
                <a:schemeClr val="dk1"/>
              </a:solidFill>
              <a:effectLst/>
              <a:uFillTx/>
              <a:latin typeface="Calibri"/>
            </a:endParaRPr>
          </a:p>
        </p:txBody>
      </p:sp>
      <p:pic>
        <p:nvPicPr>
          <p:cNvPr id="173" name="Image 0" descr="icon_fqbyhhyyhng.svg"/>
          <p:cNvPicPr/>
          <p:nvPr/>
        </p:nvPicPr>
        <p:blipFill>
          <a:blip r:embed="rId1">
            <a:extLst>
              <a:ext uri="{96DAC541-7B7A-43D3-8B79-37D633B846F1}">
                <asvg:svgBlip xmlns:asvg="http://schemas.microsoft.com/office/drawing/2016/SVG/main" r:embed="rId2"/>
              </a:ext>
            </a:extLst>
          </a:blip>
          <a:stretch/>
        </p:blipFill>
        <p:spPr>
          <a:xfrm>
            <a:off x="1097280" y="4892040"/>
            <a:ext cx="502560" cy="502560"/>
          </a:xfrm>
          <a:prstGeom prst="rect">
            <a:avLst/>
          </a:prstGeom>
          <a:noFill/>
          <a:ln w="0">
            <a:noFill/>
          </a:ln>
        </p:spPr>
      </p:pic>
      <p:sp>
        <p:nvSpPr>
          <p:cNvPr id="174" name="Text 6"/>
          <p:cNvSpPr/>
          <p:nvPr/>
        </p:nvSpPr>
        <p:spPr>
          <a:xfrm>
            <a:off x="1828800" y="4572000"/>
            <a:ext cx="4297320" cy="1188360"/>
          </a:xfrm>
          <a:prstGeom prst="rect">
            <a:avLst/>
          </a:prstGeom>
          <a:noFill/>
          <a:ln w="0">
            <a:noFill/>
          </a:ln>
        </p:spPr>
        <p:style>
          <a:lnRef idx="0"/>
          <a:fillRef idx="0"/>
          <a:effectRef idx="0"/>
          <a:fontRef idx="minor"/>
        </p:style>
        <p:txBody>
          <a:bodyPr lIns="0" tIns="0" rIns="0" bIns="0" anchor="ctr">
            <a:noAutofit/>
          </a:bodyPr>
          <a:p>
            <a:r>
              <a:rPr lang="es-CL" sz="1100" b="1" u="none" strike="noStrike">
                <a:solidFill>
                  <a:srgbClr val="FF9900"/>
                </a:solidFill>
                <a:effectLst/>
                <a:uFillTx/>
                <a:latin typeface="Calibri"/>
                <a:ea typeface="Calibri"/>
              </a:rPr>
              <a:t>Contacto del referente</a:t>
            </a:r>
            <a:endParaRPr lang="es-CL" sz="1100" b="0" u="none" strike="noStrike">
              <a:solidFill>
                <a:srgbClr val="FFFFFF"/>
              </a:solidFill>
              <a:effectLst/>
              <a:uFillTx/>
              <a:latin typeface="Arial"/>
            </a:endParaRPr>
          </a:p>
          <a:p>
            <a:r>
              <a:rPr lang="es-CL" sz="1300" b="1" u="none" strike="noStrike">
                <a:solidFill>
                  <a:srgbClr val="FFFFFF"/>
                </a:solidFill>
                <a:effectLst/>
                <a:uFillTx/>
                <a:latin typeface="Calibri"/>
                <a:ea typeface="Calibri"/>
              </a:rPr>
              <a:t>Roberto Rondanelli  ·  Director del CR2</a:t>
            </a:r>
            <a:endParaRPr lang="es-CL" sz="1300" b="0" u="none" strike="noStrike">
              <a:solidFill>
                <a:srgbClr val="FFFFFF"/>
              </a:solidFill>
              <a:effectLst/>
              <a:uFillTx/>
              <a:latin typeface="Arial"/>
            </a:endParaRPr>
          </a:p>
          <a:p>
            <a:pPr defTabSz="914400">
              <a:lnSpc>
                <a:spcPts val="1599"/>
              </a:lnSpc>
              <a:tabLst>
                <a:tab pos="0" algn="l"/>
              </a:tabLst>
            </a:pPr>
            <a:r>
              <a:rPr lang="es-CL" sz="1100" b="0" u="none" strike="noStrike">
                <a:solidFill>
                  <a:srgbClr val="C8D1DC"/>
                </a:solidFill>
                <a:effectLst/>
                <a:uFillTx/>
                <a:latin typeface="Calibri"/>
                <a:ea typeface="Calibri"/>
              </a:rPr>
              <a:t>ronda@dgf.uchile.cl</a:t>
            </a:r>
            <a:endParaRPr lang="es-CL" sz="1100" b="0" u="none" strike="noStrike">
              <a:solidFill>
                <a:srgbClr val="FFFFFF"/>
              </a:solidFill>
              <a:effectLst/>
              <a:uFillTx/>
              <a:latin typeface="Arial"/>
            </a:endParaRPr>
          </a:p>
        </p:txBody>
      </p:sp>
      <p:pic>
        <p:nvPicPr>
          <p:cNvPr id="175" name="Image 1" descr="artifacts/aws_logo_white.svg"/>
          <p:cNvPicPr/>
          <p:nvPr/>
        </p:nvPicPr>
        <p:blipFill>
          <a:blip r:embed="rId3">
            <a:extLst>
              <a:ext uri="{96DAC541-7B7A-43D3-8B79-37D633B846F1}">
                <asvg:svgBlip xmlns:asvg="http://schemas.microsoft.com/office/drawing/2016/SVG/main" r:embed="rId4"/>
              </a:ext>
            </a:extLst>
          </a:blip>
          <a:stretch/>
        </p:blipFill>
        <p:spPr>
          <a:xfrm>
            <a:off x="7269480" y="4846320"/>
            <a:ext cx="1142640" cy="621360"/>
          </a:xfrm>
          <a:prstGeom prst="rect">
            <a:avLst/>
          </a:prstGeom>
          <a:noFill/>
          <a:ln w="0">
            <a:noFill/>
          </a:ln>
        </p:spPr>
      </p:pic>
      <p:sp>
        <p:nvSpPr>
          <p:cNvPr id="176" name="Text 7"/>
          <p:cNvSpPr/>
          <p:nvPr/>
        </p:nvSpPr>
        <p:spPr>
          <a:xfrm>
            <a:off x="8229600" y="4892040"/>
            <a:ext cx="384012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s-CL" sz="1200" b="0" u="none" strike="noStrike">
                <a:solidFill>
                  <a:srgbClr val="C8D1DC"/>
                </a:solidFill>
                <a:effectLst/>
                <a:uFillTx/>
                <a:latin typeface="Calibri"/>
                <a:ea typeface="Calibri"/>
              </a:rPr>
              <a:t>+  Universidad de Chile  +  CR2</a:t>
            </a:r>
            <a:endParaRPr lang="es-CL" sz="1200" b="0" u="none" strike="noStrike">
              <a:solidFill>
                <a:srgbClr val="FFFFFF"/>
              </a:solidFill>
              <a:effectLst/>
              <a:uFillTx/>
              <a:latin typeface="Arial"/>
            </a:endParaRPr>
          </a:p>
        </p:txBody>
      </p:sp>
      <p:sp>
        <p:nvSpPr>
          <p:cNvPr id="177" name="Text 8"/>
          <p:cNvSpPr/>
          <p:nvPr/>
        </p:nvSpPr>
        <p:spPr>
          <a:xfrm>
            <a:off x="822960" y="6172200"/>
            <a:ext cx="105152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7E8A99"/>
                </a:solidFill>
                <a:effectLst/>
                <a:uFillTx/>
                <a:latin typeface="Calibri"/>
                <a:ea typeface="Calibri"/>
              </a:rPr>
              <a:t>AWS Breaking Barriers Chile 2026   ·   14 - 16 de octubre   ·   Universidad de Chile</a:t>
            </a:r>
            <a:endParaRPr lang="es-CL" sz="11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webextensions/taskpanes.xml><?xml version="1.0" encoding="utf-8"?>
<wetp:taskpanes xmlns:wetp="http://schemas.microsoft.com/office/webextensions/taskpanes/2010/11">
  <wetp:taskpane dockstate="right" visibility="1" width="350" row="0">
    <wetp:webextensionref xmlns:r="http://schemas.openxmlformats.org/officeDocument/2006/relationships" r:id="rId1"/>
  </wetp:taskpane>
</wetp:taskpanes>
</file>

<file path=docProps/app.xml><?xml version="1.0" encoding="utf-8"?>
<Properties xmlns="http://schemas.openxmlformats.org/officeDocument/2006/extended-properties" xmlns:vt="http://schemas.openxmlformats.org/officeDocument/2006/docPropsVTypes">
  <Template/>
  <TotalTime>35</TotalTime>
  <Application>LibreOffice/26.2.6.3$Linux_X86_64 LibreOffice_project/620$Build-3</Application>
  <AppVersion>15.0000</AppVersion>
  <Words>1064</Words>
  <Paragraphs>123</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2026-10-02T22:06:26Z</dcterms:created>
  <dc:creator>AWS Breaking Barriers Chile 2026</dc:creator>
  <dc:description/>
  <dc:language>es-CL</dc:language>
  <cp:lastModifiedBy/>
  <dcterms:modified xsi:type="dcterms:W3CDTF">2026-10-13T16:22:31Z</dcterms:modified>
  <cp:revision>6</cp:revision>
  <dc:subject>PptxGenJS Presentation</dc:subject>
  <dc:title>Plantilla para Presentar tu Desafio</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9e68092-05df-4271-8e3e-b2a4c82ba797_ActionId">
    <vt:lpwstr>e8fddb24-08db-46a5-b8c9-2d08e5a810f4</vt:lpwstr>
  </property>
  <property fmtid="{D5CDD505-2E9C-101B-9397-08002B2CF9AE}" pid="3" name="MSIP_Label_19e68092-05df-4271-8e3e-b2a4c82ba797_ContentBits">
    <vt:lpwstr>0</vt:lpwstr>
  </property>
  <property fmtid="{D5CDD505-2E9C-101B-9397-08002B2CF9AE}" pid="4" name="MSIP_Label_19e68092-05df-4271-8e3e-b2a4c82ba797_Enabled">
    <vt:lpwstr>true</vt:lpwstr>
  </property>
  <property fmtid="{D5CDD505-2E9C-101B-9397-08002B2CF9AE}" pid="5" name="MSIP_Label_19e68092-05df-4271-8e3e-b2a4c82ba797_Method">
    <vt:lpwstr>Standard</vt:lpwstr>
  </property>
  <property fmtid="{D5CDD505-2E9C-101B-9397-08002B2CF9AE}" pid="6" name="MSIP_Label_19e68092-05df-4271-8e3e-b2a4c82ba797_Name">
    <vt:lpwstr>Amazon Confidential</vt:lpwstr>
  </property>
  <property fmtid="{D5CDD505-2E9C-101B-9397-08002B2CF9AE}" pid="7" name="MSIP_Label_19e68092-05df-4271-8e3e-b2a4c82ba797_SetDate">
    <vt:lpwstr>2026-10-02T22:15:02Z</vt:lpwstr>
  </property>
  <property fmtid="{D5CDD505-2E9C-101B-9397-08002B2CF9AE}" pid="8" name="MSIP_Label_19e68092-05df-4271-8e3e-b2a4c82ba797_SiteId">
    <vt:lpwstr>5280104a-472d-4538-9ccf-1e1d0efe8b1b</vt:lpwstr>
  </property>
  <property fmtid="{D5CDD505-2E9C-101B-9397-08002B2CF9AE}" pid="9" name="MSIP_Label_19e68092-05df-4271-8e3e-b2a4c82ba797_Tag">
    <vt:lpwstr>10, 3, 0, 1</vt:lpwstr>
  </property>
  <property fmtid="{D5CDD505-2E9C-101B-9397-08002B2CF9AE}" pid="10" name="Notes">
    <vt:i4>8</vt:i4>
  </property>
  <property fmtid="{D5CDD505-2E9C-101B-9397-08002B2CF9AE}" pid="11" name="PresentationFormat">
    <vt:lpwstr>Widescreen</vt:lpwstr>
  </property>
  <property fmtid="{D5CDD505-2E9C-101B-9397-08002B2CF9AE}" pid="12" name="Slides">
    <vt:i4>8</vt:i4>
  </property>
</Properties>
</file>